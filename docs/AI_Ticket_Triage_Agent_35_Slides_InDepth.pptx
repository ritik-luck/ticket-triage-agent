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9601200" y="-1097280"/>
            <a:ext cx="3291840" cy="329184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5029200"/>
            <a:ext cx="3291840" cy="329184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1/35</a:t>
            </a:r>
          </a:p>
        </p:txBody>
      </p:sp>
      <p:sp>
        <p:nvSpPr>
          <p:cNvPr id="6" name="TextBox 5"/>
          <p:cNvSpPr txBox="1"/>
          <p:nvPr/>
        </p:nvSpPr>
        <p:spPr>
          <a:xfrm>
            <a:off x="914400" y="2377440"/>
            <a:ext cx="10332720" cy="1280160"/>
          </a:xfrm>
          <a:prstGeom prst="rect">
            <a:avLst/>
          </a:prstGeom>
          <a:noFill/>
        </p:spPr>
        <p:txBody>
          <a:bodyPr wrap="square" lIns="45720" tIns="27432" rIns="45720" bIns="27432" anchor="t">
            <a:spAutoFit/>
          </a:bodyPr>
          <a:lstStyle/>
          <a:p>
            <a:pPr algn="ctr"/>
            <a:r>
              <a:rPr sz="5400" b="1">
                <a:solidFill>
                  <a:srgbClr val="1F497D"/>
                </a:solidFill>
                <a:latin typeface="Calibri"/>
              </a:rPr>
              <a:t>AI TICKET TRIAGE AGENT</a:t>
            </a:r>
          </a:p>
        </p:txBody>
      </p:sp>
      <p:sp>
        <p:nvSpPr>
          <p:cNvPr id="7" name="TextBox 6"/>
          <p:cNvSpPr txBox="1"/>
          <p:nvPr/>
        </p:nvSpPr>
        <p:spPr>
          <a:xfrm>
            <a:off x="914400" y="3566160"/>
            <a:ext cx="10332720" cy="548640"/>
          </a:xfrm>
          <a:prstGeom prst="rect">
            <a:avLst/>
          </a:prstGeom>
          <a:noFill/>
        </p:spPr>
        <p:txBody>
          <a:bodyPr wrap="square" lIns="45720" tIns="27432" rIns="45720" bIns="27432" anchor="t">
            <a:spAutoFit/>
          </a:bodyPr>
          <a:lstStyle/>
          <a:p>
            <a:pPr algn="ctr"/>
            <a:r>
              <a:rPr sz="2200" b="0">
                <a:solidFill>
                  <a:srgbClr val="333333"/>
                </a:solidFill>
                <a:latin typeface="Calibri"/>
              </a:rPr>
              <a:t>In-Depth Project Presentation</a:t>
            </a:r>
          </a:p>
        </p:txBody>
      </p:sp>
      <p:sp>
        <p:nvSpPr>
          <p:cNvPr id="8" name="TextBox 7"/>
          <p:cNvSpPr txBox="1"/>
          <p:nvPr/>
        </p:nvSpPr>
        <p:spPr>
          <a:xfrm>
            <a:off x="914400" y="4206240"/>
            <a:ext cx="10332720" cy="457200"/>
          </a:xfrm>
          <a:prstGeom prst="rect">
            <a:avLst/>
          </a:prstGeom>
          <a:noFill/>
        </p:spPr>
        <p:txBody>
          <a:bodyPr wrap="square" lIns="45720" tIns="27432" rIns="45720" bIns="27432" anchor="t">
            <a:spAutoFit/>
          </a:bodyPr>
          <a:lstStyle/>
          <a:p>
            <a:pPr algn="ctr"/>
            <a:r>
              <a:rPr sz="1800" b="1">
                <a:solidFill>
                  <a:srgbClr val="CE5B41"/>
                </a:solidFill>
                <a:latin typeface="Calibri"/>
              </a:rPr>
              <a:t>Presenter: Ritik Yadav</a:t>
            </a:r>
          </a:p>
        </p:txBody>
      </p:sp>
      <p:sp>
        <p:nvSpPr>
          <p:cNvPr id="9" name="TextBox 8"/>
          <p:cNvSpPr txBox="1"/>
          <p:nvPr/>
        </p:nvSpPr>
        <p:spPr>
          <a:xfrm>
            <a:off x="914400" y="4663440"/>
            <a:ext cx="10332720" cy="365760"/>
          </a:xfrm>
          <a:prstGeom prst="rect">
            <a:avLst/>
          </a:prstGeom>
          <a:noFill/>
        </p:spPr>
        <p:txBody>
          <a:bodyPr wrap="square" lIns="45720" tIns="27432" rIns="45720" bIns="27432" anchor="t">
            <a:spAutoFit/>
          </a:bodyPr>
          <a:lstStyle/>
          <a:p>
            <a:pPr algn="ctr"/>
            <a:r>
              <a:rPr sz="1300" b="0">
                <a:solidFill>
                  <a:srgbClr val="333333"/>
                </a:solidFill>
                <a:latin typeface="Calibri"/>
              </a:rPr>
              <a:t>Custom Software Engineering Associate  |  Accenture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Why This Use Case Is Needed</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370332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3429000" cy="365760"/>
          </a:xfrm>
          <a:prstGeom prst="rect">
            <a:avLst/>
          </a:prstGeom>
          <a:noFill/>
        </p:spPr>
        <p:txBody>
          <a:bodyPr wrap="square" lIns="45720" tIns="27432" rIns="45720" bIns="27432" anchor="t">
            <a:spAutoFit/>
          </a:bodyPr>
          <a:lstStyle/>
          <a:p>
            <a:pPr algn="l"/>
            <a:r>
              <a:rPr sz="1300" b="1">
                <a:solidFill>
                  <a:srgbClr val="CE5B41"/>
                </a:solidFill>
                <a:latin typeface="Calibri"/>
              </a:rPr>
              <a:t>BUSINESS PAIN</a:t>
            </a:r>
          </a:p>
        </p:txBody>
      </p:sp>
      <p:sp>
        <p:nvSpPr>
          <p:cNvPr id="10" name="TextBox 9"/>
          <p:cNvSpPr txBox="1"/>
          <p:nvPr/>
        </p:nvSpPr>
        <p:spPr>
          <a:xfrm>
            <a:off x="640080" y="1874520"/>
            <a:ext cx="3383280" cy="3794760"/>
          </a:xfrm>
          <a:prstGeom prst="rect">
            <a:avLst/>
          </a:prstGeom>
          <a:noFill/>
        </p:spPr>
        <p:txBody>
          <a:bodyPr wrap="square" lIns="45720" tIns="27432" rIns="45720" bIns="27432" anchor="t">
            <a:spAutoFit/>
          </a:bodyPr>
          <a:lstStyle/>
          <a:p>
            <a:pPr algn="l"/>
            <a:r>
              <a:rPr sz="1100" b="0">
                <a:solidFill>
                  <a:srgbClr val="333333"/>
                </a:solidFill>
                <a:latin typeface="Calibri"/>
              </a:rPr>
              <a:t>• Tickets arrive as unstructured text</a:t>
            </a:r>
          </a:p>
          <a:p>
            <a:pPr algn="l"/>
            <a:r>
              <a:rPr sz="1100" b="0">
                <a:solidFill>
                  <a:srgbClr val="333333"/>
                </a:solidFill>
                <a:latin typeface="Calibri"/>
              </a:rPr>
              <a:t>• Manual triage delays the first response</a:t>
            </a:r>
          </a:p>
          <a:p>
            <a:pPr algn="l"/>
            <a:r>
              <a:rPr sz="1100" b="0">
                <a:solidFill>
                  <a:srgbClr val="333333"/>
                </a:solidFill>
                <a:latin typeface="Calibri"/>
              </a:rPr>
              <a:t>• Wrong routing creates rework and multiple handoffs</a:t>
            </a:r>
          </a:p>
          <a:p>
            <a:pPr algn="l"/>
            <a:r>
              <a:rPr sz="1100" b="0">
                <a:solidFill>
                  <a:srgbClr val="333333"/>
                </a:solidFill>
                <a:latin typeface="Calibri"/>
              </a:rPr>
              <a:t>• Critical / security issues need faster escalation</a:t>
            </a:r>
          </a:p>
          <a:p>
            <a:pPr algn="l"/>
            <a:r>
              <a:rPr sz="1100" b="0">
                <a:solidFill>
                  <a:srgbClr val="333333"/>
                </a:solidFill>
                <a:latin typeface="Calibri"/>
              </a:rPr>
              <a:t>• Support cost grows with ticket volume</a:t>
            </a:r>
          </a:p>
        </p:txBody>
      </p:sp>
      <p:sp>
        <p:nvSpPr>
          <p:cNvPr id="11" name="Rounded Rectangle 10"/>
          <p:cNvSpPr/>
          <p:nvPr/>
        </p:nvSpPr>
        <p:spPr>
          <a:xfrm>
            <a:off x="4251960" y="1371600"/>
            <a:ext cx="370332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429000" cy="365760"/>
          </a:xfrm>
          <a:prstGeom prst="rect">
            <a:avLst/>
          </a:prstGeom>
          <a:noFill/>
        </p:spPr>
        <p:txBody>
          <a:bodyPr wrap="square" lIns="45720" tIns="27432" rIns="45720" bIns="27432" anchor="t">
            <a:spAutoFit/>
          </a:bodyPr>
          <a:lstStyle/>
          <a:p>
            <a:pPr algn="l"/>
            <a:r>
              <a:rPr sz="1300" b="1">
                <a:solidFill>
                  <a:srgbClr val="7A8C3A"/>
                </a:solidFill>
                <a:latin typeface="Calibri"/>
              </a:rPr>
              <a:t>WHY AI FITS</a:t>
            </a:r>
          </a:p>
        </p:txBody>
      </p:sp>
      <p:sp>
        <p:nvSpPr>
          <p:cNvPr id="13" name="TextBox 12"/>
          <p:cNvSpPr txBox="1"/>
          <p:nvPr/>
        </p:nvSpPr>
        <p:spPr>
          <a:xfrm>
            <a:off x="4434840" y="1874520"/>
            <a:ext cx="3383280" cy="3794760"/>
          </a:xfrm>
          <a:prstGeom prst="rect">
            <a:avLst/>
          </a:prstGeom>
          <a:noFill/>
        </p:spPr>
        <p:txBody>
          <a:bodyPr wrap="square" lIns="45720" tIns="27432" rIns="45720" bIns="27432" anchor="t">
            <a:spAutoFit/>
          </a:bodyPr>
          <a:lstStyle/>
          <a:p>
            <a:pPr algn="l"/>
            <a:r>
              <a:rPr sz="1100" b="0">
                <a:solidFill>
                  <a:srgbClr val="333333"/>
                </a:solidFill>
                <a:latin typeface="Calibri"/>
              </a:rPr>
              <a:t>• Repeated patterns exist across tickets</a:t>
            </a:r>
          </a:p>
          <a:p>
            <a:pPr algn="l"/>
            <a:r>
              <a:rPr sz="1100" b="0">
                <a:solidFill>
                  <a:srgbClr val="333333"/>
                </a:solidFill>
                <a:latin typeface="Calibri"/>
              </a:rPr>
              <a:t>• Knowledge base can guide answers</a:t>
            </a:r>
          </a:p>
          <a:p>
            <a:pPr algn="l"/>
            <a:r>
              <a:rPr sz="1100" b="0">
                <a:solidFill>
                  <a:srgbClr val="333333"/>
                </a:solidFill>
                <a:latin typeface="Calibri"/>
              </a:rPr>
              <a:t>• Category, priority, and routing can be standardized</a:t>
            </a:r>
          </a:p>
          <a:p>
            <a:pPr algn="l"/>
            <a:r>
              <a:rPr sz="1100" b="0">
                <a:solidFill>
                  <a:srgbClr val="333333"/>
                </a:solidFill>
                <a:latin typeface="Calibri"/>
              </a:rPr>
              <a:t>• Audit logs make decisions reviewable</a:t>
            </a:r>
          </a:p>
          <a:p>
            <a:pPr algn="l"/>
            <a:r>
              <a:rPr sz="1100" b="0">
                <a:solidFill>
                  <a:srgbClr val="333333"/>
                </a:solidFill>
                <a:latin typeface="Calibri"/>
              </a:rPr>
              <a:t>• Enables consistent, explainable first-level triage</a:t>
            </a:r>
          </a:p>
        </p:txBody>
      </p:sp>
      <p:sp>
        <p:nvSpPr>
          <p:cNvPr id="14" name="Rounded Rectangle 13"/>
          <p:cNvSpPr/>
          <p:nvPr/>
        </p:nvSpPr>
        <p:spPr>
          <a:xfrm>
            <a:off x="8046720" y="1371600"/>
            <a:ext cx="370332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183880" y="1463040"/>
            <a:ext cx="3429000" cy="365760"/>
          </a:xfrm>
          <a:prstGeom prst="rect">
            <a:avLst/>
          </a:prstGeom>
          <a:noFill/>
        </p:spPr>
        <p:txBody>
          <a:bodyPr wrap="square" lIns="45720" tIns="27432" rIns="45720" bIns="27432" anchor="t">
            <a:spAutoFit/>
          </a:bodyPr>
          <a:lstStyle/>
          <a:p>
            <a:pPr algn="l"/>
            <a:r>
              <a:rPr sz="1300" b="1">
                <a:solidFill>
                  <a:srgbClr val="CE5B41"/>
                </a:solidFill>
                <a:latin typeface="Calibri"/>
              </a:rPr>
              <a:t>EXPECTED OUTCOME</a:t>
            </a:r>
          </a:p>
        </p:txBody>
      </p:sp>
      <p:sp>
        <p:nvSpPr>
          <p:cNvPr id="16" name="TextBox 15"/>
          <p:cNvSpPr txBox="1"/>
          <p:nvPr/>
        </p:nvSpPr>
        <p:spPr>
          <a:xfrm>
            <a:off x="8229600" y="1874520"/>
            <a:ext cx="3383280" cy="3794760"/>
          </a:xfrm>
          <a:prstGeom prst="rect">
            <a:avLst/>
          </a:prstGeom>
          <a:noFill/>
        </p:spPr>
        <p:txBody>
          <a:bodyPr wrap="square" lIns="45720" tIns="27432" rIns="45720" bIns="27432" anchor="t">
            <a:spAutoFit/>
          </a:bodyPr>
          <a:lstStyle/>
          <a:p>
            <a:pPr algn="l"/>
            <a:r>
              <a:rPr sz="1100" b="0">
                <a:solidFill>
                  <a:srgbClr val="333333"/>
                </a:solidFill>
                <a:latin typeface="Calibri"/>
              </a:rPr>
              <a:t>• Faster first response for end users</a:t>
            </a:r>
          </a:p>
          <a:p>
            <a:pPr algn="l"/>
            <a:r>
              <a:rPr sz="1100" b="0">
                <a:solidFill>
                  <a:srgbClr val="333333"/>
                </a:solidFill>
                <a:latin typeface="Calibri"/>
              </a:rPr>
              <a:t>• Better consistency across support agents</a:t>
            </a:r>
          </a:p>
          <a:p>
            <a:pPr algn="l"/>
            <a:r>
              <a:rPr sz="1100" b="0">
                <a:solidFill>
                  <a:srgbClr val="333333"/>
                </a:solidFill>
                <a:latin typeface="Calibri"/>
              </a:rPr>
              <a:t>• Reduced manual effort in first-level triage</a:t>
            </a:r>
          </a:p>
          <a:p>
            <a:pPr algn="l"/>
            <a:r>
              <a:rPr sz="1100" b="0">
                <a:solidFill>
                  <a:srgbClr val="333333"/>
                </a:solidFill>
                <a:latin typeface="Calibri"/>
              </a:rPr>
              <a:t>• Improved visibility for leads and admins</a:t>
            </a:r>
          </a:p>
          <a:p>
            <a:pPr algn="l"/>
            <a:r>
              <a:rPr sz="1100" b="0">
                <a:solidFill>
                  <a:srgbClr val="333333"/>
                </a:solidFill>
                <a:latin typeface="Calibri"/>
              </a:rPr>
              <a:t>• Foundation for enterprise ITSM automation</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Real-World Industry Alignment</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2743200" cy="4023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2468880" cy="365760"/>
          </a:xfrm>
          <a:prstGeom prst="rect">
            <a:avLst/>
          </a:prstGeom>
          <a:noFill/>
        </p:spPr>
        <p:txBody>
          <a:bodyPr wrap="square" lIns="45720" tIns="27432" rIns="45720" bIns="27432" anchor="t">
            <a:spAutoFit/>
          </a:bodyPr>
          <a:lstStyle/>
          <a:p>
            <a:pPr algn="l"/>
            <a:r>
              <a:rPr sz="1300" b="1">
                <a:solidFill>
                  <a:srgbClr val="CE5B41"/>
                </a:solidFill>
                <a:latin typeface="Calibri"/>
              </a:rPr>
              <a:t>SERVICENOW</a:t>
            </a:r>
          </a:p>
        </p:txBody>
      </p:sp>
      <p:sp>
        <p:nvSpPr>
          <p:cNvPr id="10" name="TextBox 9"/>
          <p:cNvSpPr txBox="1"/>
          <p:nvPr/>
        </p:nvSpPr>
        <p:spPr>
          <a:xfrm>
            <a:off x="548640" y="1874520"/>
            <a:ext cx="2423160" cy="3429000"/>
          </a:xfrm>
          <a:prstGeom prst="rect">
            <a:avLst/>
          </a:prstGeom>
          <a:noFill/>
        </p:spPr>
        <p:txBody>
          <a:bodyPr wrap="square" lIns="45720" tIns="27432" rIns="45720" bIns="27432" anchor="t">
            <a:spAutoFit/>
          </a:bodyPr>
          <a:lstStyle/>
          <a:p>
            <a:pPr algn="l"/>
            <a:r>
              <a:rPr sz="1100" b="0">
                <a:solidFill>
                  <a:srgbClr val="333333"/>
                </a:solidFill>
                <a:latin typeface="Calibri"/>
              </a:rPr>
              <a:t>• AI agents support case triage</a:t>
            </a:r>
          </a:p>
          <a:p>
            <a:pPr algn="l"/>
            <a:r>
              <a:rPr sz="1100" b="0">
                <a:solidFill>
                  <a:srgbClr val="333333"/>
                </a:solidFill>
                <a:latin typeface="Calibri"/>
              </a:rPr>
              <a:t>• Escalation and suggested resolution steps</a:t>
            </a:r>
          </a:p>
          <a:p>
            <a:pPr algn="l"/>
            <a:r>
              <a:rPr sz="1100" b="0">
                <a:solidFill>
                  <a:srgbClr val="333333"/>
                </a:solidFill>
                <a:latin typeface="Calibri"/>
              </a:rPr>
              <a:t>• Aligned with case / ticket workflows</a:t>
            </a:r>
          </a:p>
          <a:p>
            <a:pPr algn="l"/>
            <a:r>
              <a:rPr sz="1100" b="0">
                <a:solidFill>
                  <a:srgbClr val="333333"/>
                </a:solidFill>
                <a:latin typeface="Calibri"/>
              </a:rPr>
              <a:t>• Industry standard for enterprise ITSM</a:t>
            </a:r>
          </a:p>
        </p:txBody>
      </p:sp>
      <p:sp>
        <p:nvSpPr>
          <p:cNvPr id="11" name="Rounded Rectangle 10"/>
          <p:cNvSpPr/>
          <p:nvPr/>
        </p:nvSpPr>
        <p:spPr>
          <a:xfrm>
            <a:off x="3246120" y="1371600"/>
            <a:ext cx="2743200" cy="4023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383280" y="1463040"/>
            <a:ext cx="2468880" cy="365760"/>
          </a:xfrm>
          <a:prstGeom prst="rect">
            <a:avLst/>
          </a:prstGeom>
          <a:noFill/>
        </p:spPr>
        <p:txBody>
          <a:bodyPr wrap="square" lIns="45720" tIns="27432" rIns="45720" bIns="27432" anchor="t">
            <a:spAutoFit/>
          </a:bodyPr>
          <a:lstStyle/>
          <a:p>
            <a:pPr algn="l"/>
            <a:r>
              <a:rPr sz="1300" b="1">
                <a:solidFill>
                  <a:srgbClr val="7A8C3A"/>
                </a:solidFill>
                <a:latin typeface="Calibri"/>
              </a:rPr>
              <a:t>MICROSOFT + SERVICENOW</a:t>
            </a:r>
          </a:p>
        </p:txBody>
      </p:sp>
      <p:sp>
        <p:nvSpPr>
          <p:cNvPr id="13" name="TextBox 12"/>
          <p:cNvSpPr txBox="1"/>
          <p:nvPr/>
        </p:nvSpPr>
        <p:spPr>
          <a:xfrm>
            <a:off x="3429000" y="1874520"/>
            <a:ext cx="2423160" cy="3429000"/>
          </a:xfrm>
          <a:prstGeom prst="rect">
            <a:avLst/>
          </a:prstGeom>
          <a:noFill/>
        </p:spPr>
        <p:txBody>
          <a:bodyPr wrap="square" lIns="45720" tIns="27432" rIns="45720" bIns="27432" anchor="t">
            <a:spAutoFit/>
          </a:bodyPr>
          <a:lstStyle/>
          <a:p>
            <a:pPr algn="l"/>
            <a:r>
              <a:rPr sz="1100" b="0">
                <a:solidFill>
                  <a:srgbClr val="333333"/>
                </a:solidFill>
                <a:latin typeface="Calibri"/>
              </a:rPr>
              <a:t>• IT Helpdesk agent uses org knowledge</a:t>
            </a:r>
          </a:p>
          <a:p>
            <a:pPr algn="l"/>
            <a:r>
              <a:rPr sz="1100" b="0">
                <a:solidFill>
                  <a:srgbClr val="333333"/>
                </a:solidFill>
                <a:latin typeface="Calibri"/>
              </a:rPr>
              <a:t>• Can create ServiceNow tickets</a:t>
            </a:r>
          </a:p>
          <a:p>
            <a:pPr algn="l"/>
            <a:r>
              <a:rPr sz="1100" b="0">
                <a:solidFill>
                  <a:srgbClr val="333333"/>
                </a:solidFill>
                <a:latin typeface="Calibri"/>
              </a:rPr>
              <a:t>• Tracks ticket details and status</a:t>
            </a:r>
          </a:p>
          <a:p>
            <a:pPr algn="l"/>
            <a:r>
              <a:rPr sz="1100" b="0">
                <a:solidFill>
                  <a:srgbClr val="333333"/>
                </a:solidFill>
                <a:latin typeface="Calibri"/>
              </a:rPr>
              <a:t>• Copilot Studio integrates enterprise KB</a:t>
            </a:r>
          </a:p>
        </p:txBody>
      </p:sp>
      <p:sp>
        <p:nvSpPr>
          <p:cNvPr id="14" name="Rounded Rectangle 13"/>
          <p:cNvSpPr/>
          <p:nvPr/>
        </p:nvSpPr>
        <p:spPr>
          <a:xfrm>
            <a:off x="6126480" y="1371600"/>
            <a:ext cx="2743200" cy="4023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63640" y="1463040"/>
            <a:ext cx="2468880" cy="365760"/>
          </a:xfrm>
          <a:prstGeom prst="rect">
            <a:avLst/>
          </a:prstGeom>
          <a:noFill/>
        </p:spPr>
        <p:txBody>
          <a:bodyPr wrap="square" lIns="45720" tIns="27432" rIns="45720" bIns="27432" anchor="t">
            <a:spAutoFit/>
          </a:bodyPr>
          <a:lstStyle/>
          <a:p>
            <a:pPr algn="l"/>
            <a:r>
              <a:rPr sz="1300" b="1">
                <a:solidFill>
                  <a:srgbClr val="CE5B41"/>
                </a:solidFill>
                <a:latin typeface="Calibri"/>
              </a:rPr>
              <a:t>JIRA SERVICE MGMT</a:t>
            </a:r>
          </a:p>
        </p:txBody>
      </p:sp>
      <p:sp>
        <p:nvSpPr>
          <p:cNvPr id="16" name="TextBox 15"/>
          <p:cNvSpPr txBox="1"/>
          <p:nvPr/>
        </p:nvSpPr>
        <p:spPr>
          <a:xfrm>
            <a:off x="6309360" y="1874520"/>
            <a:ext cx="2423160" cy="3429000"/>
          </a:xfrm>
          <a:prstGeom prst="rect">
            <a:avLst/>
          </a:prstGeom>
          <a:noFill/>
        </p:spPr>
        <p:txBody>
          <a:bodyPr wrap="square" lIns="45720" tIns="27432" rIns="45720" bIns="27432" anchor="t">
            <a:spAutoFit/>
          </a:bodyPr>
          <a:lstStyle/>
          <a:p>
            <a:pPr algn="l"/>
            <a:r>
              <a:rPr sz="1100" b="0">
                <a:solidFill>
                  <a:srgbClr val="333333"/>
                </a:solidFill>
                <a:latin typeface="Calibri"/>
              </a:rPr>
              <a:t>• Virtual service agent automates support</a:t>
            </a:r>
          </a:p>
          <a:p>
            <a:pPr algn="l"/>
            <a:r>
              <a:rPr sz="1100" b="0">
                <a:solidFill>
                  <a:srgbClr val="333333"/>
                </a:solidFill>
                <a:latin typeface="Calibri"/>
              </a:rPr>
              <a:t>• Uses knowledge base / AI answers</a:t>
            </a:r>
          </a:p>
          <a:p>
            <a:pPr algn="l"/>
            <a:r>
              <a:rPr sz="1100" b="0">
                <a:solidFill>
                  <a:srgbClr val="333333"/>
                </a:solidFill>
                <a:latin typeface="Calibri"/>
              </a:rPr>
              <a:t>• Escalates unresolved requests</a:t>
            </a:r>
          </a:p>
          <a:p>
            <a:pPr algn="l"/>
            <a:r>
              <a:rPr sz="1100" b="0">
                <a:solidFill>
                  <a:srgbClr val="333333"/>
                </a:solidFill>
                <a:latin typeface="Calibri"/>
              </a:rPr>
              <a:t>• Popular for internal IT and DevOps</a:t>
            </a:r>
          </a:p>
        </p:txBody>
      </p:sp>
      <p:sp>
        <p:nvSpPr>
          <p:cNvPr id="17" name="Rounded Rectangle 16"/>
          <p:cNvSpPr/>
          <p:nvPr/>
        </p:nvSpPr>
        <p:spPr>
          <a:xfrm>
            <a:off x="9006840" y="1371600"/>
            <a:ext cx="2743200" cy="4023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44000" y="1463040"/>
            <a:ext cx="2468880" cy="365760"/>
          </a:xfrm>
          <a:prstGeom prst="rect">
            <a:avLst/>
          </a:prstGeom>
          <a:noFill/>
        </p:spPr>
        <p:txBody>
          <a:bodyPr wrap="square" lIns="45720" tIns="27432" rIns="45720" bIns="27432" anchor="t">
            <a:spAutoFit/>
          </a:bodyPr>
          <a:lstStyle/>
          <a:p>
            <a:pPr algn="l"/>
            <a:r>
              <a:rPr sz="1300" b="1">
                <a:solidFill>
                  <a:srgbClr val="7A8C3A"/>
                </a:solidFill>
                <a:latin typeface="Calibri"/>
              </a:rPr>
              <a:t>MOVEWORKS</a:t>
            </a:r>
          </a:p>
        </p:txBody>
      </p:sp>
      <p:sp>
        <p:nvSpPr>
          <p:cNvPr id="19" name="TextBox 18"/>
          <p:cNvSpPr txBox="1"/>
          <p:nvPr/>
        </p:nvSpPr>
        <p:spPr>
          <a:xfrm>
            <a:off x="9189720" y="1874520"/>
            <a:ext cx="2423160" cy="3429000"/>
          </a:xfrm>
          <a:prstGeom prst="rect">
            <a:avLst/>
          </a:prstGeom>
          <a:noFill/>
        </p:spPr>
        <p:txBody>
          <a:bodyPr wrap="square" lIns="45720" tIns="27432" rIns="45720" bIns="27432" anchor="t">
            <a:spAutoFit/>
          </a:bodyPr>
          <a:lstStyle/>
          <a:p>
            <a:pPr algn="l"/>
            <a:r>
              <a:rPr sz="1100" b="0">
                <a:solidFill>
                  <a:srgbClr val="333333"/>
                </a:solidFill>
                <a:latin typeface="Calibri"/>
              </a:rPr>
              <a:t>• AI helpdesk across ITSM stack</a:t>
            </a:r>
          </a:p>
          <a:p>
            <a:pPr algn="l"/>
            <a:r>
              <a:rPr sz="1100" b="0">
                <a:solidFill>
                  <a:srgbClr val="333333"/>
                </a:solidFill>
                <a:latin typeface="Calibri"/>
              </a:rPr>
              <a:t>• Supports ServiceNow, Jira, Freshservice</a:t>
            </a:r>
          </a:p>
          <a:p>
            <a:pPr algn="l"/>
            <a:r>
              <a:rPr sz="1100" b="0">
                <a:solidFill>
                  <a:srgbClr val="333333"/>
                </a:solidFill>
                <a:latin typeface="Calibri"/>
              </a:rPr>
              <a:t>• Targets ticket deflection &amp; automation</a:t>
            </a:r>
          </a:p>
          <a:p>
            <a:pPr algn="l"/>
            <a:r>
              <a:rPr sz="1100" b="0">
                <a:solidFill>
                  <a:srgbClr val="333333"/>
                </a:solidFill>
                <a:latin typeface="Calibri"/>
              </a:rPr>
              <a:t>• Proves market demand for this pattern</a:t>
            </a:r>
          </a:p>
        </p:txBody>
      </p:sp>
      <p:sp>
        <p:nvSpPr>
          <p:cNvPr id="20" name="TextBox 19"/>
          <p:cNvSpPr txBox="1"/>
          <p:nvPr/>
        </p:nvSpPr>
        <p:spPr>
          <a:xfrm>
            <a:off x="457200" y="5623560"/>
            <a:ext cx="11247120" cy="457200"/>
          </a:xfrm>
          <a:prstGeom prst="rect">
            <a:avLst/>
          </a:prstGeom>
          <a:noFill/>
        </p:spPr>
        <p:txBody>
          <a:bodyPr wrap="square" lIns="45720" tIns="27432" rIns="45720" bIns="27432" anchor="t">
            <a:spAutoFit/>
          </a:bodyPr>
          <a:lstStyle/>
          <a:p>
            <a:pPr algn="ctr"/>
            <a:r>
              <a:rPr sz="1200" b="1">
                <a:solidFill>
                  <a:srgbClr val="1F497D"/>
                </a:solidFill>
                <a:latin typeface="Calibri"/>
              </a:rPr>
              <a:t>My project reflects the same industry direction at a hands-on implementation level.</a:t>
            </a:r>
          </a:p>
        </p:txBody>
      </p:sp>
      <p:sp>
        <p:nvSpPr>
          <p:cNvPr id="21" name="TextBox 20"/>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4/35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Big Picture Before Coding</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PROBLEM</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Manual ticket triage delays first response</a:t>
            </a:r>
          </a:p>
          <a:p>
            <a:pPr algn="l"/>
            <a:r>
              <a:rPr sz="1100" b="0">
                <a:solidFill>
                  <a:srgbClr val="333333"/>
                </a:solidFill>
                <a:latin typeface="Calibri"/>
              </a:rPr>
              <a:t>• Similar tickets may be routed differently</a:t>
            </a:r>
          </a:p>
          <a:p>
            <a:pPr algn="l"/>
            <a:r>
              <a:rPr sz="1100" b="0">
                <a:solidFill>
                  <a:srgbClr val="333333"/>
                </a:solidFill>
                <a:latin typeface="Calibri"/>
              </a:rPr>
              <a:t>• Knowledge is scattered across documents</a:t>
            </a:r>
          </a:p>
          <a:p>
            <a:pPr algn="l"/>
            <a:r>
              <a:rPr sz="1100" b="0">
                <a:solidFill>
                  <a:srgbClr val="333333"/>
                </a:solidFill>
                <a:latin typeface="Calibri"/>
              </a:rPr>
              <a:t>• Security / outage tickets need careful escalation</a:t>
            </a:r>
          </a:p>
          <a:p>
            <a:pPr algn="l"/>
            <a:r>
              <a:rPr sz="1100" b="0">
                <a:solidFill>
                  <a:srgbClr val="333333"/>
                </a:solidFill>
                <a:latin typeface="Calibri"/>
              </a:rPr>
              <a:t>• Compliance requires traceable decisions</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GOAL</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Build an AI-assisted first-level support agent</a:t>
            </a:r>
          </a:p>
          <a:p>
            <a:pPr algn="l"/>
            <a:r>
              <a:rPr sz="1100" b="0">
                <a:solidFill>
                  <a:srgbClr val="333333"/>
                </a:solidFill>
                <a:latin typeface="Calibri"/>
              </a:rPr>
              <a:t>• Classify, prioritize, retrieve knowledge, route</a:t>
            </a:r>
          </a:p>
          <a:p>
            <a:pPr algn="l"/>
            <a:r>
              <a:rPr sz="1100" b="0">
                <a:solidFill>
                  <a:srgbClr val="333333"/>
                </a:solidFill>
                <a:latin typeface="Calibri"/>
              </a:rPr>
              <a:t>• Keep every major decision traceable</a:t>
            </a:r>
          </a:p>
          <a:p>
            <a:pPr algn="l"/>
            <a:r>
              <a:rPr sz="1100" b="0">
                <a:solidFill>
                  <a:srgbClr val="333333"/>
                </a:solidFill>
                <a:latin typeface="Calibri"/>
              </a:rPr>
              <a:t>• Design with production thinking from start</a:t>
            </a:r>
          </a:p>
          <a:p>
            <a:pPr algn="l"/>
            <a:r>
              <a:rPr sz="1100" b="0">
                <a:solidFill>
                  <a:srgbClr val="333333"/>
                </a:solidFill>
                <a:latin typeface="Calibri"/>
              </a:rPr>
              <a:t>• Prepare foundation for ITSM integration</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5/35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Who Will Use It?</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USER</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Submits a ticket through a simple React form</a:t>
            </a:r>
          </a:p>
          <a:p>
            <a:pPr algn="l"/>
            <a:r>
              <a:rPr sz="1100" b="0">
                <a:solidFill>
                  <a:srgbClr val="333333"/>
                </a:solidFill>
                <a:latin typeface="Calibri"/>
              </a:rPr>
              <a:t>• Sees category and priority for their issue</a:t>
            </a:r>
          </a:p>
          <a:p>
            <a:pPr algn="l"/>
            <a:r>
              <a:rPr sz="1100" b="0">
                <a:solidFill>
                  <a:srgbClr val="333333"/>
                </a:solidFill>
                <a:latin typeface="Calibri"/>
              </a:rPr>
              <a:t>• Gets suggested troubleshooting steps</a:t>
            </a:r>
          </a:p>
          <a:p>
            <a:pPr algn="l"/>
            <a:r>
              <a:rPr sz="1100" b="0">
                <a:solidFill>
                  <a:srgbClr val="333333"/>
                </a:solidFill>
                <a:latin typeface="Calibri"/>
              </a:rPr>
              <a:t>• Sees SLA window so expectations are clear</a:t>
            </a:r>
          </a:p>
          <a:p>
            <a:pPr algn="l"/>
            <a:r>
              <a:rPr sz="1100" b="0">
                <a:solidFill>
                  <a:srgbClr val="333333"/>
                </a:solidFill>
                <a:latin typeface="Calibri"/>
              </a:rPr>
              <a:t>• Does not see internal RAG / audit metadata</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ADMIN</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Views full analytics dashboard</a:t>
            </a:r>
          </a:p>
          <a:p>
            <a:pPr algn="l"/>
            <a:r>
              <a:rPr sz="1100" b="0">
                <a:solidFill>
                  <a:srgbClr val="333333"/>
                </a:solidFill>
                <a:latin typeface="Calibri"/>
              </a:rPr>
              <a:t>• Opens a ticket by ID to review details</a:t>
            </a:r>
          </a:p>
          <a:p>
            <a:pPr algn="l"/>
            <a:r>
              <a:rPr sz="1100" b="0">
                <a:solidFill>
                  <a:srgbClr val="333333"/>
                </a:solidFill>
                <a:latin typeface="Calibri"/>
              </a:rPr>
              <a:t>• Reviews RAG score, sources, guardrail source</a:t>
            </a:r>
          </a:p>
          <a:p>
            <a:pPr algn="l"/>
            <a:r>
              <a:rPr sz="1100" b="0">
                <a:solidFill>
                  <a:srgbClr val="333333"/>
                </a:solidFill>
                <a:latin typeface="Calibri"/>
              </a:rPr>
              <a:t>• Reviews SLA prediction and escalation decision</a:t>
            </a:r>
          </a:p>
          <a:p>
            <a:pPr algn="l"/>
            <a:r>
              <a:rPr sz="1100" b="0">
                <a:solidFill>
                  <a:srgbClr val="333333"/>
                </a:solidFill>
                <a:latin typeface="Calibri"/>
              </a:rPr>
              <a:t>• Uses audit trail for governance</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6/35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Solution Overview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19659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TICKET INTAKE</a:t>
            </a:r>
          </a:p>
        </p:txBody>
      </p:sp>
      <p:sp>
        <p:nvSpPr>
          <p:cNvPr id="10" name="TextBox 9"/>
          <p:cNvSpPr txBox="1"/>
          <p:nvPr/>
        </p:nvSpPr>
        <p:spPr>
          <a:xfrm>
            <a:off x="640080" y="1874520"/>
            <a:ext cx="5166360" cy="1371600"/>
          </a:xfrm>
          <a:prstGeom prst="rect">
            <a:avLst/>
          </a:prstGeom>
          <a:noFill/>
        </p:spPr>
        <p:txBody>
          <a:bodyPr wrap="square" lIns="45720" tIns="27432" rIns="45720" bIns="27432" anchor="t">
            <a:spAutoFit/>
          </a:bodyPr>
          <a:lstStyle/>
          <a:p>
            <a:pPr algn="l"/>
            <a:r>
              <a:rPr sz="1100" b="0">
                <a:solidFill>
                  <a:srgbClr val="333333"/>
                </a:solidFill>
                <a:latin typeface="Calibri"/>
              </a:rPr>
              <a:t>• React form collects issue details</a:t>
            </a:r>
          </a:p>
          <a:p>
            <a:pPr algn="l"/>
            <a:r>
              <a:rPr sz="1100" b="0">
                <a:solidFill>
                  <a:srgbClr val="333333"/>
                </a:solidFill>
                <a:latin typeface="Calibri"/>
              </a:rPr>
              <a:t>• Structured request goes to FastAPI backend</a:t>
            </a:r>
          </a:p>
        </p:txBody>
      </p:sp>
      <p:sp>
        <p:nvSpPr>
          <p:cNvPr id="11" name="Rounded Rectangle 10"/>
          <p:cNvSpPr/>
          <p:nvPr/>
        </p:nvSpPr>
        <p:spPr>
          <a:xfrm>
            <a:off x="6263640" y="1371600"/>
            <a:ext cx="5486400" cy="19659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RAG SEARCH</a:t>
            </a:r>
          </a:p>
        </p:txBody>
      </p:sp>
      <p:sp>
        <p:nvSpPr>
          <p:cNvPr id="13" name="TextBox 12"/>
          <p:cNvSpPr txBox="1"/>
          <p:nvPr/>
        </p:nvSpPr>
        <p:spPr>
          <a:xfrm>
            <a:off x="6446520" y="1874520"/>
            <a:ext cx="5166360" cy="1371600"/>
          </a:xfrm>
          <a:prstGeom prst="rect">
            <a:avLst/>
          </a:prstGeom>
          <a:noFill/>
        </p:spPr>
        <p:txBody>
          <a:bodyPr wrap="square" lIns="45720" tIns="27432" rIns="45720" bIns="27432" anchor="t">
            <a:spAutoFit/>
          </a:bodyPr>
          <a:lstStyle/>
          <a:p>
            <a:pPr algn="l"/>
            <a:r>
              <a:rPr sz="1100" b="0">
                <a:solidFill>
                  <a:srgbClr val="333333"/>
                </a:solidFill>
                <a:latin typeface="Calibri"/>
              </a:rPr>
              <a:t>• Internal knowledge base is searched first</a:t>
            </a:r>
          </a:p>
          <a:p>
            <a:pPr algn="l"/>
            <a:r>
              <a:rPr sz="1100" b="0">
                <a:solidFill>
                  <a:srgbClr val="333333"/>
                </a:solidFill>
                <a:latin typeface="Calibri"/>
              </a:rPr>
              <a:t>• Confidence score decides internal vs fallback</a:t>
            </a:r>
          </a:p>
        </p:txBody>
      </p:sp>
      <p:sp>
        <p:nvSpPr>
          <p:cNvPr id="14" name="Rounded Rectangle 13"/>
          <p:cNvSpPr/>
          <p:nvPr/>
        </p:nvSpPr>
        <p:spPr>
          <a:xfrm>
            <a:off x="457200" y="3474720"/>
            <a:ext cx="5486400" cy="19659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56616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DECISION TOOLS + GUARDRAILS</a:t>
            </a:r>
          </a:p>
        </p:txBody>
      </p:sp>
      <p:sp>
        <p:nvSpPr>
          <p:cNvPr id="16" name="TextBox 15"/>
          <p:cNvSpPr txBox="1"/>
          <p:nvPr/>
        </p:nvSpPr>
        <p:spPr>
          <a:xfrm>
            <a:off x="640080" y="3977640"/>
            <a:ext cx="5166360" cy="1371600"/>
          </a:xfrm>
          <a:prstGeom prst="rect">
            <a:avLst/>
          </a:prstGeom>
          <a:noFill/>
        </p:spPr>
        <p:txBody>
          <a:bodyPr wrap="square" lIns="45720" tIns="27432" rIns="45720" bIns="27432" anchor="t">
            <a:spAutoFit/>
          </a:bodyPr>
          <a:lstStyle/>
          <a:p>
            <a:pPr algn="l"/>
            <a:r>
              <a:rPr sz="1100" b="0">
                <a:solidFill>
                  <a:srgbClr val="333333"/>
                </a:solidFill>
                <a:latin typeface="Calibri"/>
              </a:rPr>
              <a:t>• Category, priority, and route are assigned</a:t>
            </a:r>
          </a:p>
          <a:p>
            <a:pPr algn="l"/>
            <a:r>
              <a:rPr sz="1100" b="0">
                <a:solidFill>
                  <a:srgbClr val="333333"/>
                </a:solidFill>
                <a:latin typeface="Calibri"/>
              </a:rPr>
              <a:t>• Rule + Model guardrails detect critical cases</a:t>
            </a:r>
          </a:p>
        </p:txBody>
      </p:sp>
      <p:sp>
        <p:nvSpPr>
          <p:cNvPr id="17" name="Rounded Rectangle 16"/>
          <p:cNvSpPr/>
          <p:nvPr/>
        </p:nvSpPr>
        <p:spPr>
          <a:xfrm>
            <a:off x="6263640" y="3474720"/>
            <a:ext cx="5486400" cy="19659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56616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SLA + ADMIN AUDIT</a:t>
            </a:r>
          </a:p>
        </p:txBody>
      </p:sp>
      <p:sp>
        <p:nvSpPr>
          <p:cNvPr id="19" name="TextBox 18"/>
          <p:cNvSpPr txBox="1"/>
          <p:nvPr/>
        </p:nvSpPr>
        <p:spPr>
          <a:xfrm>
            <a:off x="6446520" y="3977640"/>
            <a:ext cx="5166360" cy="1371600"/>
          </a:xfrm>
          <a:prstGeom prst="rect">
            <a:avLst/>
          </a:prstGeom>
          <a:noFill/>
        </p:spPr>
        <p:txBody>
          <a:bodyPr wrap="square" lIns="45720" tIns="27432" rIns="45720" bIns="27432" anchor="t">
            <a:spAutoFit/>
          </a:bodyPr>
          <a:lstStyle/>
          <a:p>
            <a:pPr algn="l"/>
            <a:r>
              <a:rPr sz="1100" b="0">
                <a:solidFill>
                  <a:srgbClr val="333333"/>
                </a:solidFill>
                <a:latin typeface="Calibri"/>
              </a:rPr>
              <a:t>• SLA and escalation predicted for each ticket</a:t>
            </a:r>
          </a:p>
          <a:p>
            <a:pPr algn="l"/>
            <a:r>
              <a:rPr sz="1100" b="0">
                <a:solidFill>
                  <a:srgbClr val="333333"/>
                </a:solidFill>
                <a:latin typeface="Calibri"/>
              </a:rPr>
              <a:t>• Every result saved and reviewable by admin</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7/35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Agent Architecture Layers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React
Frontend</a:t>
            </a:r>
          </a:p>
        </p:txBody>
      </p:sp>
      <p:sp>
        <p:nvSpPr>
          <p:cNvPr id="9" name="Rounded Rectangle 8"/>
          <p:cNvSpPr/>
          <p:nvPr/>
        </p:nvSpPr>
        <p:spPr>
          <a:xfrm>
            <a:off x="2029967"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FastAPI
Backend</a:t>
            </a:r>
          </a:p>
        </p:txBody>
      </p:sp>
      <p:sp>
        <p:nvSpPr>
          <p:cNvPr id="10" name="Rounded Rectangle 9"/>
          <p:cNvSpPr/>
          <p:nvPr/>
        </p:nvSpPr>
        <p:spPr>
          <a:xfrm>
            <a:off x="3557015"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Agent
Orchestrator</a:t>
            </a:r>
          </a:p>
        </p:txBody>
      </p:sp>
      <p:sp>
        <p:nvSpPr>
          <p:cNvPr id="11" name="Rounded Rectangle 10"/>
          <p:cNvSpPr/>
          <p:nvPr/>
        </p:nvSpPr>
        <p:spPr>
          <a:xfrm>
            <a:off x="5084064"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RAG
Pipeline</a:t>
            </a:r>
          </a:p>
        </p:txBody>
      </p:sp>
      <p:sp>
        <p:nvSpPr>
          <p:cNvPr id="12" name="Rounded Rectangle 11"/>
          <p:cNvSpPr/>
          <p:nvPr/>
        </p:nvSpPr>
        <p:spPr>
          <a:xfrm>
            <a:off x="6611112"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Decision
Tools</a:t>
            </a:r>
          </a:p>
        </p:txBody>
      </p:sp>
      <p:sp>
        <p:nvSpPr>
          <p:cNvPr id="13" name="Rounded Rectangle 12"/>
          <p:cNvSpPr/>
          <p:nvPr/>
        </p:nvSpPr>
        <p:spPr>
          <a:xfrm>
            <a:off x="8138160"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Ticket
Logs</a:t>
            </a:r>
          </a:p>
        </p:txBody>
      </p:sp>
      <p:sp>
        <p:nvSpPr>
          <p:cNvPr id="14" name="Rounded Rectangle 13"/>
          <p:cNvSpPr/>
          <p:nvPr/>
        </p:nvSpPr>
        <p:spPr>
          <a:xfrm>
            <a:off x="9665208" y="2286000"/>
            <a:ext cx="1417320" cy="9601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Admin
Dashboard</a:t>
            </a:r>
          </a:p>
        </p:txBody>
      </p:sp>
      <p:cxnSp>
        <p:nvCxnSpPr>
          <p:cNvPr id="15" name="Connector 14"/>
          <p:cNvCxnSpPr/>
          <p:nvPr/>
        </p:nvCxnSpPr>
        <p:spPr>
          <a:xfrm>
            <a:off x="1920240" y="2761488"/>
            <a:ext cx="109727"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47287" y="2761488"/>
            <a:ext cx="109728"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74335" y="2761488"/>
            <a:ext cx="109729"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01384" y="2761488"/>
            <a:ext cx="109728"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28432" y="2761488"/>
            <a:ext cx="109728"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555480" y="2761488"/>
            <a:ext cx="109728"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14400" y="4023360"/>
            <a:ext cx="10332720" cy="2286000"/>
          </a:xfrm>
          <a:prstGeom prst="rect">
            <a:avLst/>
          </a:prstGeom>
          <a:noFill/>
        </p:spPr>
        <p:txBody>
          <a:bodyPr wrap="square" lIns="45720" tIns="27432" rIns="45720" bIns="27432" anchor="t">
            <a:spAutoFit/>
          </a:bodyPr>
          <a:lstStyle/>
          <a:p>
            <a:pPr algn="ctr"/>
            <a:r>
              <a:rPr sz="1300" b="0">
                <a:solidFill>
                  <a:srgbClr val="333333"/>
                </a:solidFill>
                <a:latin typeface="Calibri"/>
              </a:rPr>
              <a:t>The frontend has no AI logic. FastAPI validates the request. The Agent Orchestrator coordinates RAG retrieval, decision tools, hybrid guardrails, SLA prediction, memory logging, and the final response. Ticket Logs power the Admin Dashboard for analytics and audit — making every AI decision explainable and reviewable.</a:t>
            </a:r>
          </a:p>
        </p:txBody>
      </p:sp>
      <p:sp>
        <p:nvSpPr>
          <p:cNvPr id="22" name="TextBox 21"/>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8/35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Core Components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FRONTEND + API</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React components: TicketForm, ResultPanel, AnalyticsDashboard, AdminTicketViewer, GuardrailBox, SLABox</a:t>
            </a:r>
          </a:p>
          <a:p>
            <a:pPr algn="l"/>
            <a:r>
              <a:rPr sz="1100" b="0">
                <a:solidFill>
                  <a:srgbClr val="333333"/>
                </a:solidFill>
                <a:latin typeface="Calibri"/>
              </a:rPr>
              <a:t>• FastAPI exposes /triage and analytics endpoints</a:t>
            </a:r>
          </a:p>
          <a:p>
            <a:pPr algn="l"/>
            <a:r>
              <a:rPr sz="1100" b="0">
                <a:solidFill>
                  <a:srgbClr val="333333"/>
                </a:solidFill>
                <a:latin typeface="Calibri"/>
              </a:rPr>
              <a:t>• Pydantic models validate request and response shape</a:t>
            </a:r>
          </a:p>
          <a:p>
            <a:pPr algn="l"/>
            <a:r>
              <a:rPr sz="1100" b="0">
                <a:solidFill>
                  <a:srgbClr val="333333"/>
                </a:solidFill>
                <a:latin typeface="Calibri"/>
              </a:rPr>
              <a:t>• Clean separation of UI, API, and Agent</a:t>
            </a:r>
          </a:p>
          <a:p>
            <a:pPr algn="l"/>
            <a:r>
              <a:rPr sz="1100" b="0">
                <a:solidFill>
                  <a:srgbClr val="333333"/>
                </a:solidFill>
                <a:latin typeface="Calibri"/>
              </a:rPr>
              <a:t>• Testable and maintainable design</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AGENT + DATA</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Agent orchestrates cache → RAG → tools → guardrails → SLA → memory</a:t>
            </a:r>
          </a:p>
          <a:p>
            <a:pPr algn="l"/>
            <a:r>
              <a:rPr sz="1100" b="0">
                <a:solidFill>
                  <a:srgbClr val="333333"/>
                </a:solidFill>
                <a:latin typeface="Calibri"/>
              </a:rPr>
              <a:t>• ChromaDB stores vectorized knowledge chunks</a:t>
            </a:r>
          </a:p>
          <a:p>
            <a:pPr algn="l"/>
            <a:r>
              <a:rPr sz="1100" b="0">
                <a:solidFill>
                  <a:srgbClr val="333333"/>
                </a:solidFill>
                <a:latin typeface="Calibri"/>
              </a:rPr>
              <a:t>• Ticket logs power analytics and audit trail</a:t>
            </a:r>
          </a:p>
          <a:p>
            <a:pPr algn="l"/>
            <a:r>
              <a:rPr sz="1100" b="0">
                <a:solidFill>
                  <a:srgbClr val="333333"/>
                </a:solidFill>
                <a:latin typeface="Calibri"/>
              </a:rPr>
              <a:t>• Each responsibility is isolated for reliability</a:t>
            </a:r>
          </a:p>
          <a:p>
            <a:pPr algn="l"/>
            <a:r>
              <a:rPr sz="1100" b="0">
                <a:solidFill>
                  <a:srgbClr val="333333"/>
                </a:solidFill>
                <a:latin typeface="Calibri"/>
              </a:rPr>
              <a:t>• Easy to extend with new tools or ITSM connectors</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9/35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RAG Flow of the Project</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0040"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CSV
Dataset</a:t>
            </a:r>
          </a:p>
        </p:txBody>
      </p:sp>
      <p:sp>
        <p:nvSpPr>
          <p:cNvPr id="9" name="Rounded Rectangle 8"/>
          <p:cNvSpPr/>
          <p:nvPr/>
        </p:nvSpPr>
        <p:spPr>
          <a:xfrm>
            <a:off x="1536192"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Document
Loader</a:t>
            </a:r>
          </a:p>
        </p:txBody>
      </p:sp>
      <p:sp>
        <p:nvSpPr>
          <p:cNvPr id="10" name="Rounded Rectangle 9"/>
          <p:cNvSpPr/>
          <p:nvPr/>
        </p:nvSpPr>
        <p:spPr>
          <a:xfrm>
            <a:off x="2752344"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Chunking</a:t>
            </a:r>
          </a:p>
        </p:txBody>
      </p:sp>
      <p:sp>
        <p:nvSpPr>
          <p:cNvPr id="11" name="Rounded Rectangle 10"/>
          <p:cNvSpPr/>
          <p:nvPr/>
        </p:nvSpPr>
        <p:spPr>
          <a:xfrm>
            <a:off x="3968496"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Embeddings</a:t>
            </a:r>
          </a:p>
        </p:txBody>
      </p:sp>
      <p:sp>
        <p:nvSpPr>
          <p:cNvPr id="12" name="Rounded Rectangle 11"/>
          <p:cNvSpPr/>
          <p:nvPr/>
        </p:nvSpPr>
        <p:spPr>
          <a:xfrm>
            <a:off x="5184648"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ChromaDB
Vector Store</a:t>
            </a:r>
          </a:p>
        </p:txBody>
      </p:sp>
      <p:sp>
        <p:nvSpPr>
          <p:cNvPr id="13" name="Rounded Rectangle 12"/>
          <p:cNvSpPr/>
          <p:nvPr/>
        </p:nvSpPr>
        <p:spPr>
          <a:xfrm>
            <a:off x="6400800"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Retriever</a:t>
            </a:r>
          </a:p>
        </p:txBody>
      </p:sp>
      <p:sp>
        <p:nvSpPr>
          <p:cNvPr id="14" name="Rounded Rectangle 13"/>
          <p:cNvSpPr/>
          <p:nvPr/>
        </p:nvSpPr>
        <p:spPr>
          <a:xfrm>
            <a:off x="7616952"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Prompt
Context</a:t>
            </a:r>
          </a:p>
        </p:txBody>
      </p:sp>
      <p:sp>
        <p:nvSpPr>
          <p:cNvPr id="15" name="Rounded Rectangle 14"/>
          <p:cNvSpPr/>
          <p:nvPr/>
        </p:nvSpPr>
        <p:spPr>
          <a:xfrm>
            <a:off x="8833104"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Groq
LLM</a:t>
            </a:r>
          </a:p>
        </p:txBody>
      </p:sp>
      <p:sp>
        <p:nvSpPr>
          <p:cNvPr id="16" name="Rounded Rectangle 15"/>
          <p:cNvSpPr/>
          <p:nvPr/>
        </p:nvSpPr>
        <p:spPr>
          <a:xfrm>
            <a:off x="10049256" y="2194560"/>
            <a:ext cx="1170432" cy="86868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900" b="1">
                <a:solidFill>
                  <a:srgbClr val="1F497D"/>
                </a:solidFill>
                <a:latin typeface="Calibri"/>
              </a:rPr>
              <a:t>Suggested
Steps</a:t>
            </a:r>
          </a:p>
        </p:txBody>
      </p:sp>
      <p:cxnSp>
        <p:nvCxnSpPr>
          <p:cNvPr id="17" name="Connector 16"/>
          <p:cNvCxnSpPr/>
          <p:nvPr/>
        </p:nvCxnSpPr>
        <p:spPr>
          <a:xfrm>
            <a:off x="1490472"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706624"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922776"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38928"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355080"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71232"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87384"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003536" y="2624328"/>
            <a:ext cx="457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3840480"/>
            <a:ext cx="11247120" cy="2377440"/>
          </a:xfrm>
          <a:prstGeom prst="rect">
            <a:avLst/>
          </a:prstGeom>
          <a:noFill/>
        </p:spPr>
        <p:txBody>
          <a:bodyPr wrap="square" lIns="45720" tIns="27432" rIns="45720" bIns="27432" anchor="t">
            <a:spAutoFit/>
          </a:bodyPr>
          <a:lstStyle/>
          <a:p>
            <a:pPr algn="ctr"/>
            <a:r>
              <a:rPr sz="1300" b="0">
                <a:solidFill>
                  <a:srgbClr val="333333"/>
                </a:solidFill>
                <a:latin typeface="Calibri"/>
              </a:rPr>
              <a:t>RAG grounds every response in real support knowledge, reducing hallucination risk. Chunks are embedded once and stored in ChromaDB; at query time the top-k most relevant chunks are retrieved with a similarity score. A threshold decides whether to trust the retrieved context and generate an internal answer, or fall back to a safer generic response — instead of forcing poor context into the prompt.</a:t>
            </a:r>
          </a:p>
        </p:txBody>
      </p:sp>
      <p:sp>
        <p:nvSpPr>
          <p:cNvPr id="26" name="TextBox 25"/>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10/35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Why RAG — Not Just an LLM</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WHY</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Standalone LLMs can invent company policies</a:t>
            </a:r>
          </a:p>
          <a:p>
            <a:pPr algn="l"/>
            <a:r>
              <a:rPr sz="1100" b="0">
                <a:solidFill>
                  <a:srgbClr val="333333"/>
                </a:solidFill>
                <a:latin typeface="Calibri"/>
              </a:rPr>
              <a:t>• Enterprise knowledge changes constantly</a:t>
            </a:r>
          </a:p>
          <a:p>
            <a:pPr algn="l"/>
            <a:r>
              <a:rPr sz="1100" b="0">
                <a:solidFill>
                  <a:srgbClr val="333333"/>
                </a:solidFill>
                <a:latin typeface="Calibri"/>
              </a:rPr>
              <a:t>• Users expect answers grounded in real documents</a:t>
            </a:r>
          </a:p>
          <a:p>
            <a:pPr algn="l"/>
            <a:r>
              <a:rPr sz="1100" b="0">
                <a:solidFill>
                  <a:srgbClr val="333333"/>
                </a:solidFill>
                <a:latin typeface="Calibri"/>
              </a:rPr>
              <a:t>• Compliance requires traceable sources</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WHEN</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Trigger RAG for every non-cached ticket</a:t>
            </a:r>
          </a:p>
          <a:p>
            <a:pPr algn="l"/>
            <a:r>
              <a:rPr sz="1100" b="0">
                <a:solidFill>
                  <a:srgbClr val="333333"/>
                </a:solidFill>
                <a:latin typeface="Calibri"/>
              </a:rPr>
              <a:t>• Use retrieval score as the trust signal</a:t>
            </a:r>
          </a:p>
          <a:p>
            <a:pPr algn="l"/>
            <a:r>
              <a:rPr sz="1100" b="0">
                <a:solidFill>
                  <a:srgbClr val="333333"/>
                </a:solidFill>
                <a:latin typeface="Calibri"/>
              </a:rPr>
              <a:t>• Fallback only when retrieval is genuinely weak</a:t>
            </a:r>
          </a:p>
          <a:p>
            <a:pPr algn="l"/>
            <a:r>
              <a:rPr sz="1100" b="0">
                <a:solidFill>
                  <a:srgbClr val="333333"/>
                </a:solidFill>
                <a:latin typeface="Calibri"/>
              </a:rPr>
              <a:t>• Cache used first to avoid redundant compute</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HOW</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Chunk KB, embed, store in ChromaDB</a:t>
            </a:r>
          </a:p>
          <a:p>
            <a:pPr algn="l"/>
            <a:r>
              <a:rPr sz="1100" b="0">
                <a:solidFill>
                  <a:srgbClr val="333333"/>
                </a:solidFill>
                <a:latin typeface="Calibri"/>
              </a:rPr>
              <a:t>• Retrieve top-k, score them, inject into the prompt</a:t>
            </a:r>
          </a:p>
          <a:p>
            <a:pPr algn="l"/>
            <a:r>
              <a:rPr sz="1100" b="0">
                <a:solidFill>
                  <a:srgbClr val="333333"/>
                </a:solidFill>
                <a:latin typeface="Calibri"/>
              </a:rPr>
              <a:t>• Threshold-based decision: internal vs fallback</a:t>
            </a:r>
          </a:p>
          <a:p>
            <a:pPr algn="l"/>
            <a:r>
              <a:rPr sz="1100" b="0">
                <a:solidFill>
                  <a:srgbClr val="333333"/>
                </a:solidFill>
                <a:latin typeface="Calibri"/>
              </a:rPr>
              <a:t>• Sources preserved for admin audit view</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11/35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Workflow Diagram</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371600"/>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Start</a:t>
            </a:r>
          </a:p>
        </p:txBody>
      </p:sp>
      <p:sp>
        <p:nvSpPr>
          <p:cNvPr id="9" name="Rounded Rectangle 8"/>
          <p:cNvSpPr/>
          <p:nvPr/>
        </p:nvSpPr>
        <p:spPr>
          <a:xfrm>
            <a:off x="548640" y="1984248"/>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User submits ticket</a:t>
            </a:r>
          </a:p>
        </p:txBody>
      </p:sp>
      <p:sp>
        <p:nvSpPr>
          <p:cNvPr id="10" name="Rounded Rectangle 9"/>
          <p:cNvSpPr/>
          <p:nvPr/>
        </p:nvSpPr>
        <p:spPr>
          <a:xfrm>
            <a:off x="548640" y="2596896"/>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Validate request data</a:t>
            </a:r>
          </a:p>
        </p:txBody>
      </p:sp>
      <p:sp>
        <p:nvSpPr>
          <p:cNvPr id="11" name="Rounded Rectangle 10"/>
          <p:cNvSpPr/>
          <p:nvPr/>
        </p:nvSpPr>
        <p:spPr>
          <a:xfrm>
            <a:off x="548640" y="3209544"/>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Build base_text</a:t>
            </a:r>
          </a:p>
        </p:txBody>
      </p:sp>
      <p:sp>
        <p:nvSpPr>
          <p:cNvPr id="12" name="Rounded Rectangle 11"/>
          <p:cNvSpPr/>
          <p:nvPr/>
        </p:nvSpPr>
        <p:spPr>
          <a:xfrm>
            <a:off x="548640" y="3822191"/>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Check cache</a:t>
            </a:r>
          </a:p>
        </p:txBody>
      </p:sp>
      <p:sp>
        <p:nvSpPr>
          <p:cNvPr id="13" name="Rounded Rectangle 12"/>
          <p:cNvSpPr/>
          <p:nvPr/>
        </p:nvSpPr>
        <p:spPr>
          <a:xfrm>
            <a:off x="548640" y="4434840"/>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Retrieve chunks from ChromaDB</a:t>
            </a:r>
          </a:p>
        </p:txBody>
      </p:sp>
      <p:sp>
        <p:nvSpPr>
          <p:cNvPr id="14" name="Rounded Rectangle 13"/>
          <p:cNvSpPr/>
          <p:nvPr/>
        </p:nvSpPr>
        <p:spPr>
          <a:xfrm>
            <a:off x="548640" y="5047488"/>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RAG score OK?</a:t>
            </a:r>
          </a:p>
        </p:txBody>
      </p:sp>
      <p:sp>
        <p:nvSpPr>
          <p:cNvPr id="15" name="Rounded Rectangle 14"/>
          <p:cNvSpPr/>
          <p:nvPr/>
        </p:nvSpPr>
        <p:spPr>
          <a:xfrm>
            <a:off x="7315200" y="1371600"/>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Generate internal / fallback answer</a:t>
            </a:r>
          </a:p>
        </p:txBody>
      </p:sp>
      <p:sp>
        <p:nvSpPr>
          <p:cNvPr id="16" name="Rounded Rectangle 15"/>
          <p:cNvSpPr/>
          <p:nvPr/>
        </p:nvSpPr>
        <p:spPr>
          <a:xfrm>
            <a:off x="7315200" y="1984248"/>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Classify ticket</a:t>
            </a:r>
          </a:p>
        </p:txBody>
      </p:sp>
      <p:sp>
        <p:nvSpPr>
          <p:cNvPr id="17" name="Rounded Rectangle 16"/>
          <p:cNvSpPr/>
          <p:nvPr/>
        </p:nvSpPr>
        <p:spPr>
          <a:xfrm>
            <a:off x="7315200" y="2596896"/>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Detect priority</a:t>
            </a:r>
          </a:p>
        </p:txBody>
      </p:sp>
      <p:sp>
        <p:nvSpPr>
          <p:cNvPr id="18" name="Rounded Rectangle 17"/>
          <p:cNvSpPr/>
          <p:nvPr/>
        </p:nvSpPr>
        <p:spPr>
          <a:xfrm>
            <a:off x="7315200" y="3209544"/>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Assign support team</a:t>
            </a:r>
          </a:p>
        </p:txBody>
      </p:sp>
      <p:sp>
        <p:nvSpPr>
          <p:cNvPr id="19" name="Rounded Rectangle 18"/>
          <p:cNvSpPr/>
          <p:nvPr/>
        </p:nvSpPr>
        <p:spPr>
          <a:xfrm>
            <a:off x="7315200" y="3822191"/>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Apply guardrails</a:t>
            </a:r>
          </a:p>
        </p:txBody>
      </p:sp>
      <p:sp>
        <p:nvSpPr>
          <p:cNvPr id="20" name="Rounded Rectangle 19"/>
          <p:cNvSpPr/>
          <p:nvPr/>
        </p:nvSpPr>
        <p:spPr>
          <a:xfrm>
            <a:off x="7315200" y="4434840"/>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SLA prediction (NEW)</a:t>
            </a:r>
          </a:p>
        </p:txBody>
      </p:sp>
      <p:sp>
        <p:nvSpPr>
          <p:cNvPr id="21" name="Rounded Rectangle 20"/>
          <p:cNvSpPr/>
          <p:nvPr/>
        </p:nvSpPr>
        <p:spPr>
          <a:xfrm>
            <a:off x="7315200" y="5047488"/>
            <a:ext cx="420624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1">
                <a:solidFill>
                  <a:srgbClr val="1F497D"/>
                </a:solidFill>
                <a:latin typeface="Calibri"/>
              </a:rPr>
              <a:t>Save ticket log → End</a:t>
            </a:r>
          </a:p>
        </p:txBody>
      </p:sp>
      <p:cxnSp>
        <p:nvCxnSpPr>
          <p:cNvPr id="22" name="Connector 21"/>
          <p:cNvCxnSpPr/>
          <p:nvPr/>
        </p:nvCxnSpPr>
        <p:spPr>
          <a:xfrm>
            <a:off x="0" y="1874520"/>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2487168"/>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3099816"/>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3712464"/>
            <a:ext cx="0" cy="109727"/>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4325111"/>
            <a:ext cx="0" cy="109729"/>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4937760"/>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4754880" y="0"/>
            <a:ext cx="2560320" cy="0"/>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0" y="1874520"/>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2487168"/>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099816"/>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0" y="3712464"/>
            <a:ext cx="0" cy="109727"/>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0" y="4325111"/>
            <a:ext cx="0" cy="109729"/>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0" y="4937760"/>
            <a:ext cx="0" cy="109728"/>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12/35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Workflow Deep Dive — Why / When / Where / How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2860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VALIDATE &amp; BUILD  (Why)</a:t>
            </a:r>
          </a:p>
        </p:txBody>
      </p:sp>
      <p:sp>
        <p:nvSpPr>
          <p:cNvPr id="10" name="TextBox 9"/>
          <p:cNvSpPr txBox="1"/>
          <p:nvPr/>
        </p:nvSpPr>
        <p:spPr>
          <a:xfrm>
            <a:off x="640080" y="1783080"/>
            <a:ext cx="5166360" cy="1691640"/>
          </a:xfrm>
          <a:prstGeom prst="rect">
            <a:avLst/>
          </a:prstGeom>
          <a:noFill/>
        </p:spPr>
        <p:txBody>
          <a:bodyPr wrap="square" lIns="45720" tIns="27432" rIns="45720" bIns="27432" anchor="t">
            <a:spAutoFit/>
          </a:bodyPr>
          <a:lstStyle/>
          <a:p>
            <a:pPr algn="l"/>
            <a:r>
              <a:rPr sz="1100" b="0">
                <a:solidFill>
                  <a:srgbClr val="333333"/>
                </a:solidFill>
                <a:latin typeface="Calibri"/>
              </a:rPr>
              <a:t>• Bad input causes bad decisions downstream</a:t>
            </a:r>
          </a:p>
          <a:p>
            <a:pPr algn="l"/>
            <a:r>
              <a:rPr sz="1100" b="0">
                <a:solidFill>
                  <a:srgbClr val="333333"/>
                </a:solidFill>
                <a:latin typeface="Calibri"/>
              </a:rPr>
              <a:t>• Build a clean issue_text for consistent retrieval</a:t>
            </a:r>
          </a:p>
          <a:p>
            <a:pPr algn="l"/>
            <a:r>
              <a:rPr sz="1100" b="0">
                <a:solidFill>
                  <a:srgbClr val="333333"/>
                </a:solidFill>
                <a:latin typeface="Calibri"/>
              </a:rPr>
              <a:t>• Normalizes tone and formatting across users</a:t>
            </a:r>
          </a:p>
        </p:txBody>
      </p:sp>
      <p:sp>
        <p:nvSpPr>
          <p:cNvPr id="11" name="Rounded Rectangle 10"/>
          <p:cNvSpPr/>
          <p:nvPr/>
        </p:nvSpPr>
        <p:spPr>
          <a:xfrm>
            <a:off x="6263640" y="1280160"/>
            <a:ext cx="5486400" cy="22860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CACHE + RAG  (When)</a:t>
            </a:r>
          </a:p>
        </p:txBody>
      </p:sp>
      <p:sp>
        <p:nvSpPr>
          <p:cNvPr id="13" name="TextBox 12"/>
          <p:cNvSpPr txBox="1"/>
          <p:nvPr/>
        </p:nvSpPr>
        <p:spPr>
          <a:xfrm>
            <a:off x="6446520" y="1783080"/>
            <a:ext cx="5166360" cy="1691640"/>
          </a:xfrm>
          <a:prstGeom prst="rect">
            <a:avLst/>
          </a:prstGeom>
          <a:noFill/>
        </p:spPr>
        <p:txBody>
          <a:bodyPr wrap="square" lIns="45720" tIns="27432" rIns="45720" bIns="27432" anchor="t">
            <a:spAutoFit/>
          </a:bodyPr>
          <a:lstStyle/>
          <a:p>
            <a:pPr algn="l"/>
            <a:r>
              <a:rPr sz="1100" b="0">
                <a:solidFill>
                  <a:srgbClr val="333333"/>
                </a:solidFill>
                <a:latin typeface="Calibri"/>
              </a:rPr>
              <a:t>• Cache avoids re-computing for similar tickets</a:t>
            </a:r>
          </a:p>
          <a:p>
            <a:pPr algn="l"/>
            <a:r>
              <a:rPr sz="1100" b="0">
                <a:solidFill>
                  <a:srgbClr val="333333"/>
                </a:solidFill>
                <a:latin typeface="Calibri"/>
              </a:rPr>
              <a:t>• RAG triggers when there is no cache hit</a:t>
            </a:r>
          </a:p>
          <a:p>
            <a:pPr algn="l"/>
            <a:r>
              <a:rPr sz="1100" b="0">
                <a:solidFill>
                  <a:srgbClr val="333333"/>
                </a:solidFill>
                <a:latin typeface="Calibri"/>
              </a:rPr>
              <a:t>• Threshold decides internal answer vs fallback</a:t>
            </a:r>
          </a:p>
        </p:txBody>
      </p:sp>
      <p:sp>
        <p:nvSpPr>
          <p:cNvPr id="14" name="Rounded Rectangle 13"/>
          <p:cNvSpPr/>
          <p:nvPr/>
        </p:nvSpPr>
        <p:spPr>
          <a:xfrm>
            <a:off x="457200" y="3703320"/>
            <a:ext cx="5486400" cy="22860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79476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TOOLS + GUARDRAILS  (Where)</a:t>
            </a:r>
          </a:p>
        </p:txBody>
      </p:sp>
      <p:sp>
        <p:nvSpPr>
          <p:cNvPr id="16" name="TextBox 15"/>
          <p:cNvSpPr txBox="1"/>
          <p:nvPr/>
        </p:nvSpPr>
        <p:spPr>
          <a:xfrm>
            <a:off x="640080" y="4206240"/>
            <a:ext cx="5166360" cy="1691640"/>
          </a:xfrm>
          <a:prstGeom prst="rect">
            <a:avLst/>
          </a:prstGeom>
          <a:noFill/>
        </p:spPr>
        <p:txBody>
          <a:bodyPr wrap="square" lIns="45720" tIns="27432" rIns="45720" bIns="27432" anchor="t">
            <a:spAutoFit/>
          </a:bodyPr>
          <a:lstStyle/>
          <a:p>
            <a:pPr algn="l"/>
            <a:r>
              <a:rPr sz="1100" b="0">
                <a:solidFill>
                  <a:srgbClr val="333333"/>
                </a:solidFill>
                <a:latin typeface="Calibri"/>
              </a:rPr>
              <a:t>• Deterministic tools live inside the agent</a:t>
            </a:r>
          </a:p>
          <a:p>
            <a:pPr algn="l"/>
            <a:r>
              <a:rPr sz="1100" b="0">
                <a:solidFill>
                  <a:srgbClr val="333333"/>
                </a:solidFill>
                <a:latin typeface="Calibri"/>
              </a:rPr>
              <a:t>• Guardrails run after routing, before response</a:t>
            </a:r>
          </a:p>
          <a:p>
            <a:pPr algn="l"/>
            <a:r>
              <a:rPr sz="1100" b="0">
                <a:solidFill>
                  <a:srgbClr val="333333"/>
                </a:solidFill>
                <a:latin typeface="Calibri"/>
              </a:rPr>
              <a:t>• SLA &amp; escalation use all upstream signals</a:t>
            </a:r>
          </a:p>
        </p:txBody>
      </p:sp>
      <p:sp>
        <p:nvSpPr>
          <p:cNvPr id="17" name="Rounded Rectangle 16"/>
          <p:cNvSpPr/>
          <p:nvPr/>
        </p:nvSpPr>
        <p:spPr>
          <a:xfrm>
            <a:off x="6263640" y="3703320"/>
            <a:ext cx="5486400" cy="22860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79476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SAVE + RETURN  (How)</a:t>
            </a:r>
          </a:p>
        </p:txBody>
      </p:sp>
      <p:sp>
        <p:nvSpPr>
          <p:cNvPr id="19" name="TextBox 18"/>
          <p:cNvSpPr txBox="1"/>
          <p:nvPr/>
        </p:nvSpPr>
        <p:spPr>
          <a:xfrm>
            <a:off x="6446520" y="4206240"/>
            <a:ext cx="5166360" cy="1691640"/>
          </a:xfrm>
          <a:prstGeom prst="rect">
            <a:avLst/>
          </a:prstGeom>
          <a:noFill/>
        </p:spPr>
        <p:txBody>
          <a:bodyPr wrap="square" lIns="45720" tIns="27432" rIns="45720" bIns="27432" anchor="t">
            <a:spAutoFit/>
          </a:bodyPr>
          <a:lstStyle/>
          <a:p>
            <a:pPr algn="l"/>
            <a:r>
              <a:rPr sz="1100" b="0">
                <a:solidFill>
                  <a:srgbClr val="333333"/>
                </a:solidFill>
                <a:latin typeface="Calibri"/>
              </a:rPr>
              <a:t>• Memory writes a full structured audit log</a:t>
            </a:r>
          </a:p>
          <a:p>
            <a:pPr algn="l"/>
            <a:r>
              <a:rPr sz="1100" b="0">
                <a:solidFill>
                  <a:srgbClr val="333333"/>
                </a:solidFill>
                <a:latin typeface="Calibri"/>
              </a:rPr>
              <a:t>• Response is filtered by user vs admin role</a:t>
            </a:r>
          </a:p>
          <a:p>
            <a:pPr algn="l"/>
            <a:r>
              <a:rPr sz="1100" b="0">
                <a:solidFill>
                  <a:srgbClr val="333333"/>
                </a:solidFill>
                <a:latin typeface="Calibri"/>
              </a:rPr>
              <a:t>• Admin dashboard reads the same memory store</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13/35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Sequence Diagram</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475488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REQUEST PATH</a:t>
            </a:r>
          </a:p>
        </p:txBody>
      </p:sp>
      <p:sp>
        <p:nvSpPr>
          <p:cNvPr id="10" name="TextBox 9"/>
          <p:cNvSpPr txBox="1"/>
          <p:nvPr/>
        </p:nvSpPr>
        <p:spPr>
          <a:xfrm>
            <a:off x="640080" y="1783080"/>
            <a:ext cx="5166360" cy="4160520"/>
          </a:xfrm>
          <a:prstGeom prst="rect">
            <a:avLst/>
          </a:prstGeom>
          <a:noFill/>
        </p:spPr>
        <p:txBody>
          <a:bodyPr wrap="square" lIns="45720" tIns="27432" rIns="45720" bIns="27432" anchor="t">
            <a:spAutoFit/>
          </a:bodyPr>
          <a:lstStyle/>
          <a:p>
            <a:pPr algn="l"/>
            <a:r>
              <a:rPr sz="1100" b="0">
                <a:solidFill>
                  <a:srgbClr val="333333"/>
                </a:solidFill>
                <a:latin typeface="Calibri"/>
              </a:rPr>
              <a:t>• 1. User → React: Submit ticket</a:t>
            </a:r>
          </a:p>
          <a:p>
            <a:pPr algn="l"/>
            <a:r>
              <a:rPr sz="1100" b="0">
                <a:solidFill>
                  <a:srgbClr val="333333"/>
                </a:solidFill>
                <a:latin typeface="Calibri"/>
              </a:rPr>
              <a:t>• 2. React → FastAPI: POST /triage</a:t>
            </a:r>
          </a:p>
          <a:p>
            <a:pPr algn="l"/>
            <a:r>
              <a:rPr sz="1100" b="0">
                <a:solidFill>
                  <a:srgbClr val="333333"/>
                </a:solidFill>
                <a:latin typeface="Calibri"/>
              </a:rPr>
              <a:t>• 3. FastAPI → Agent: Trigger triage</a:t>
            </a:r>
          </a:p>
          <a:p>
            <a:pPr algn="l"/>
            <a:r>
              <a:rPr sz="1100" b="0">
                <a:solidFill>
                  <a:srgbClr val="333333"/>
                </a:solidFill>
                <a:latin typeface="Calibri"/>
              </a:rPr>
              <a:t>• 4. Agent → Cache: Lookup similar</a:t>
            </a:r>
          </a:p>
          <a:p>
            <a:pPr algn="l"/>
            <a:r>
              <a:rPr sz="1100" b="0">
                <a:solidFill>
                  <a:srgbClr val="333333"/>
                </a:solidFill>
                <a:latin typeface="Calibri"/>
              </a:rPr>
              <a:t>• 5. Cache → Agent: Hit / Miss</a:t>
            </a:r>
          </a:p>
          <a:p>
            <a:pPr algn="l"/>
            <a:r>
              <a:rPr sz="1100" b="0">
                <a:solidFill>
                  <a:srgbClr val="333333"/>
                </a:solidFill>
                <a:latin typeface="Calibri"/>
              </a:rPr>
              <a:t>• 6. Agent → RAG: Augment query</a:t>
            </a:r>
          </a:p>
          <a:p>
            <a:pPr algn="l"/>
            <a:r>
              <a:rPr sz="1100" b="0">
                <a:solidFill>
                  <a:srgbClr val="333333"/>
                </a:solidFill>
                <a:latin typeface="Calibri"/>
              </a:rPr>
              <a:t>• 7. RAG → ChromaDB: Retrieve chunks</a:t>
            </a:r>
          </a:p>
          <a:p>
            <a:pPr algn="l"/>
            <a:r>
              <a:rPr sz="1100" b="0">
                <a:solidFill>
                  <a:srgbClr val="333333"/>
                </a:solidFill>
                <a:latin typeface="Calibri"/>
              </a:rPr>
              <a:t>• 8. ChromaDB → RAG: Top-k + scores</a:t>
            </a:r>
          </a:p>
          <a:p>
            <a:pPr algn="l"/>
            <a:r>
              <a:rPr sz="1100" b="0">
                <a:solidFill>
                  <a:srgbClr val="333333"/>
                </a:solidFill>
                <a:latin typeface="Calibri"/>
              </a:rPr>
              <a:t>• 9. RAG → Agent: Grounded context</a:t>
            </a:r>
          </a:p>
        </p:txBody>
      </p:sp>
      <p:sp>
        <p:nvSpPr>
          <p:cNvPr id="11" name="Rounded Rectangle 10"/>
          <p:cNvSpPr/>
          <p:nvPr/>
        </p:nvSpPr>
        <p:spPr>
          <a:xfrm>
            <a:off x="6263640" y="1280160"/>
            <a:ext cx="5486400" cy="475488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PROCESSING + RESPONSE</a:t>
            </a:r>
          </a:p>
        </p:txBody>
      </p:sp>
      <p:sp>
        <p:nvSpPr>
          <p:cNvPr id="13" name="TextBox 12"/>
          <p:cNvSpPr txBox="1"/>
          <p:nvPr/>
        </p:nvSpPr>
        <p:spPr>
          <a:xfrm>
            <a:off x="6446520" y="1783080"/>
            <a:ext cx="5166360" cy="4160520"/>
          </a:xfrm>
          <a:prstGeom prst="rect">
            <a:avLst/>
          </a:prstGeom>
          <a:noFill/>
        </p:spPr>
        <p:txBody>
          <a:bodyPr wrap="square" lIns="45720" tIns="27432" rIns="45720" bIns="27432" anchor="t">
            <a:spAutoFit/>
          </a:bodyPr>
          <a:lstStyle/>
          <a:p>
            <a:pPr algn="l"/>
            <a:r>
              <a:rPr sz="1100" b="0">
                <a:solidFill>
                  <a:srgbClr val="333333"/>
                </a:solidFill>
                <a:latin typeface="Calibri"/>
              </a:rPr>
              <a:t>• 10. Agent → Groq LLM: Generate answer</a:t>
            </a:r>
          </a:p>
          <a:p>
            <a:pPr algn="l"/>
            <a:r>
              <a:rPr sz="1100" b="0">
                <a:solidFill>
                  <a:srgbClr val="333333"/>
                </a:solidFill>
                <a:latin typeface="Calibri"/>
              </a:rPr>
              <a:t>• 11. Agent → Tools: Classify / Priority / Route</a:t>
            </a:r>
          </a:p>
          <a:p>
            <a:pPr algn="l"/>
            <a:r>
              <a:rPr sz="1100" b="0">
                <a:solidFill>
                  <a:srgbClr val="333333"/>
                </a:solidFill>
                <a:latin typeface="Calibri"/>
              </a:rPr>
              <a:t>• 12. Agent → Guardrails: Rule + Model check</a:t>
            </a:r>
          </a:p>
          <a:p>
            <a:pPr algn="l"/>
            <a:r>
              <a:rPr sz="1100" b="0">
                <a:solidFill>
                  <a:srgbClr val="333333"/>
                </a:solidFill>
                <a:latin typeface="Calibri"/>
              </a:rPr>
              <a:t>• 13. Agent → SLA Engine: Predict + Escalate</a:t>
            </a:r>
          </a:p>
          <a:p>
            <a:pPr algn="l"/>
            <a:r>
              <a:rPr sz="1100" b="0">
                <a:solidFill>
                  <a:srgbClr val="333333"/>
                </a:solidFill>
                <a:latin typeface="Calibri"/>
              </a:rPr>
              <a:t>• 14. Agent → Memory: Save audit log</a:t>
            </a:r>
          </a:p>
          <a:p>
            <a:pPr algn="l"/>
            <a:r>
              <a:rPr sz="1100" b="0">
                <a:solidFill>
                  <a:srgbClr val="333333"/>
                </a:solidFill>
                <a:latin typeface="Calibri"/>
              </a:rPr>
              <a:t>• 15. Agent → FastAPI: TriageResponse</a:t>
            </a:r>
          </a:p>
          <a:p>
            <a:pPr algn="l"/>
            <a:r>
              <a:rPr sz="1100" b="0">
                <a:solidFill>
                  <a:srgbClr val="333333"/>
                </a:solidFill>
                <a:latin typeface="Calibri"/>
              </a:rPr>
              <a:t>• 16. FastAPI → React: JSON response</a:t>
            </a:r>
          </a:p>
          <a:p>
            <a:pPr algn="l"/>
            <a:r>
              <a:rPr sz="1100" b="0">
                <a:solidFill>
                  <a:srgbClr val="333333"/>
                </a:solidFill>
                <a:latin typeface="Calibri"/>
              </a:rPr>
              <a:t>• 17. React → User: Display result</a:t>
            </a:r>
          </a:p>
          <a:p>
            <a:pPr algn="l"/>
            <a:r>
              <a:rPr sz="1100" b="0">
                <a:solidFill>
                  <a:srgbClr val="333333"/>
                </a:solidFill>
                <a:latin typeface="Calibri"/>
              </a:rPr>
              <a:t>• 18. Admin → Dashboard: Review analytics</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14/35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Data Flow Diagram</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INPUTS &amp; PROCESSING</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User submits ticket via React</a:t>
            </a:r>
          </a:p>
          <a:p>
            <a:pPr algn="l"/>
            <a:r>
              <a:rPr sz="1100" b="0">
                <a:solidFill>
                  <a:srgbClr val="333333"/>
                </a:solidFill>
                <a:latin typeface="Calibri"/>
              </a:rPr>
              <a:t>• FastAPI validates the request</a:t>
            </a:r>
          </a:p>
          <a:p>
            <a:pPr algn="l"/>
            <a:r>
              <a:rPr sz="1100" b="0">
                <a:solidFill>
                  <a:srgbClr val="333333"/>
                </a:solidFill>
                <a:latin typeface="Calibri"/>
              </a:rPr>
              <a:t>• Agent builds issue text and checks cache</a:t>
            </a:r>
          </a:p>
          <a:p>
            <a:pPr algn="l"/>
            <a:r>
              <a:rPr sz="1100" b="0">
                <a:solidFill>
                  <a:srgbClr val="333333"/>
                </a:solidFill>
                <a:latin typeface="Calibri"/>
              </a:rPr>
              <a:t>• RAG retrieves internal knowledge from ChromaDB</a:t>
            </a:r>
          </a:p>
          <a:p>
            <a:pPr algn="l"/>
            <a:r>
              <a:rPr sz="1100" b="0">
                <a:solidFill>
                  <a:srgbClr val="333333"/>
                </a:solidFill>
                <a:latin typeface="Calibri"/>
              </a:rPr>
              <a:t>• Groq LLM generates internal or fallback answer</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DECISIONS &amp; OUTPUT</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Decision tools: classify → priority → route</a:t>
            </a:r>
          </a:p>
          <a:p>
            <a:pPr algn="l"/>
            <a:r>
              <a:rPr sz="1100" b="0">
                <a:solidFill>
                  <a:srgbClr val="333333"/>
                </a:solidFill>
                <a:latin typeface="Calibri"/>
              </a:rPr>
              <a:t>• Guardrail layer overrides for critical cases</a:t>
            </a:r>
          </a:p>
          <a:p>
            <a:pPr algn="l"/>
            <a:r>
              <a:rPr sz="1100" b="0">
                <a:solidFill>
                  <a:srgbClr val="333333"/>
                </a:solidFill>
                <a:latin typeface="Calibri"/>
              </a:rPr>
              <a:t>• SLA engine predicts risk and escalation team</a:t>
            </a:r>
          </a:p>
          <a:p>
            <a:pPr algn="l"/>
            <a:r>
              <a:rPr sz="1100" b="0">
                <a:solidFill>
                  <a:srgbClr val="333333"/>
                </a:solidFill>
                <a:latin typeface="Calibri"/>
              </a:rPr>
              <a:t>• Memory saves complete audit log</a:t>
            </a:r>
          </a:p>
          <a:p>
            <a:pPr algn="l"/>
            <a:r>
              <a:rPr sz="1100" b="0">
                <a:solidFill>
                  <a:srgbClr val="333333"/>
                </a:solidFill>
                <a:latin typeface="Calibri"/>
              </a:rPr>
              <a:t>• Admin dashboard reads it for analytics &amp; review</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15/35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Class View / UML Summary</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774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MODELS</a:t>
            </a:r>
          </a:p>
        </p:txBody>
      </p:sp>
      <p:sp>
        <p:nvSpPr>
          <p:cNvPr id="10" name="TextBox 9"/>
          <p:cNvSpPr txBox="1"/>
          <p:nvPr/>
        </p:nvSpPr>
        <p:spPr>
          <a:xfrm>
            <a:off x="640080" y="1783080"/>
            <a:ext cx="5166360" cy="1783080"/>
          </a:xfrm>
          <a:prstGeom prst="rect">
            <a:avLst/>
          </a:prstGeom>
          <a:noFill/>
        </p:spPr>
        <p:txBody>
          <a:bodyPr wrap="square" lIns="45720" tIns="27432" rIns="45720" bIns="27432" anchor="t">
            <a:spAutoFit/>
          </a:bodyPr>
          <a:lstStyle/>
          <a:p>
            <a:pPr algn="l"/>
            <a:r>
              <a:rPr sz="1100" b="0">
                <a:solidFill>
                  <a:srgbClr val="333333"/>
                </a:solidFill>
                <a:latin typeface="Calibri"/>
              </a:rPr>
              <a:t>• TicketRequest — user_name, email, department, subject, description</a:t>
            </a:r>
          </a:p>
          <a:p>
            <a:pPr algn="l"/>
            <a:r>
              <a:rPr sz="1100" b="0">
                <a:solidFill>
                  <a:srgbClr val="333333"/>
                </a:solidFill>
                <a:latin typeface="Calibri"/>
              </a:rPr>
              <a:t>• TriageResponse — ticket_id, category, priority, team, rag info, audit, guardrail, sla</a:t>
            </a:r>
          </a:p>
          <a:p>
            <a:pPr algn="l"/>
            <a:r>
              <a:rPr sz="1100" b="0">
                <a:solidFill>
                  <a:srgbClr val="333333"/>
                </a:solidFill>
                <a:latin typeface="Calibri"/>
              </a:rPr>
              <a:t>• UserTriageResponse — safe subset for end users</a:t>
            </a:r>
          </a:p>
        </p:txBody>
      </p:sp>
      <p:sp>
        <p:nvSpPr>
          <p:cNvPr id="11" name="Rounded Rectangle 10"/>
          <p:cNvSpPr/>
          <p:nvPr/>
        </p:nvSpPr>
        <p:spPr>
          <a:xfrm>
            <a:off x="6263640" y="1280160"/>
            <a:ext cx="5486400" cy="23774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AGENT LAYER</a:t>
            </a:r>
          </a:p>
        </p:txBody>
      </p:sp>
      <p:sp>
        <p:nvSpPr>
          <p:cNvPr id="13" name="TextBox 12"/>
          <p:cNvSpPr txBox="1"/>
          <p:nvPr/>
        </p:nvSpPr>
        <p:spPr>
          <a:xfrm>
            <a:off x="6446520" y="1783080"/>
            <a:ext cx="5166360" cy="1783080"/>
          </a:xfrm>
          <a:prstGeom prst="rect">
            <a:avLst/>
          </a:prstGeom>
          <a:noFill/>
        </p:spPr>
        <p:txBody>
          <a:bodyPr wrap="square" lIns="45720" tIns="27432" rIns="45720" bIns="27432" anchor="t">
            <a:spAutoFit/>
          </a:bodyPr>
          <a:lstStyle/>
          <a:p>
            <a:pPr algn="l"/>
            <a:r>
              <a:rPr sz="1100" b="0">
                <a:solidFill>
                  <a:srgbClr val="333333"/>
                </a:solidFill>
                <a:latin typeface="Calibri"/>
              </a:rPr>
              <a:t>• Agent.run_ticket_triage(request)</a:t>
            </a:r>
          </a:p>
          <a:p>
            <a:pPr algn="l"/>
            <a:r>
              <a:rPr sz="1100" b="0">
                <a:solidFill>
                  <a:srgbClr val="333333"/>
                </a:solidFill>
                <a:latin typeface="Calibri"/>
              </a:rPr>
              <a:t>• Agent.build_issue_text(request)</a:t>
            </a:r>
          </a:p>
          <a:p>
            <a:pPr algn="l"/>
            <a:r>
              <a:rPr sz="1100" b="0">
                <a:solidFill>
                  <a:srgbClr val="333333"/>
                </a:solidFill>
                <a:latin typeface="Calibri"/>
              </a:rPr>
              <a:t>• Agent.find_cached_ticket(text)</a:t>
            </a:r>
          </a:p>
          <a:p>
            <a:pPr algn="l"/>
            <a:r>
              <a:rPr sz="1100" b="0">
                <a:solidFill>
                  <a:srgbClr val="333333"/>
                </a:solidFill>
                <a:latin typeface="Calibri"/>
              </a:rPr>
              <a:t>• Agent.calculate_confidence(...)</a:t>
            </a:r>
          </a:p>
        </p:txBody>
      </p:sp>
      <p:sp>
        <p:nvSpPr>
          <p:cNvPr id="14" name="Rounded Rectangle 13"/>
          <p:cNvSpPr/>
          <p:nvPr/>
        </p:nvSpPr>
        <p:spPr>
          <a:xfrm>
            <a:off x="457200" y="3794760"/>
            <a:ext cx="5486400" cy="23774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862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TOOLS + RAG</a:t>
            </a:r>
          </a:p>
        </p:txBody>
      </p:sp>
      <p:sp>
        <p:nvSpPr>
          <p:cNvPr id="16" name="TextBox 15"/>
          <p:cNvSpPr txBox="1"/>
          <p:nvPr/>
        </p:nvSpPr>
        <p:spPr>
          <a:xfrm>
            <a:off x="640080" y="4297680"/>
            <a:ext cx="5166360" cy="1783080"/>
          </a:xfrm>
          <a:prstGeom prst="rect">
            <a:avLst/>
          </a:prstGeom>
          <a:noFill/>
        </p:spPr>
        <p:txBody>
          <a:bodyPr wrap="square" lIns="45720" tIns="27432" rIns="45720" bIns="27432" anchor="t">
            <a:spAutoFit/>
          </a:bodyPr>
          <a:lstStyle/>
          <a:p>
            <a:pPr algn="l"/>
            <a:r>
              <a:rPr sz="1100" b="0">
                <a:solidFill>
                  <a:srgbClr val="333333"/>
                </a:solidFill>
                <a:latin typeface="Calibri"/>
              </a:rPr>
              <a:t>• classify_ticket, detect_priority, route_ticket, apply_guardrails, web_search_fallback</a:t>
            </a:r>
          </a:p>
          <a:p>
            <a:pPr algn="l"/>
            <a:r>
              <a:rPr sz="1100" b="0">
                <a:solidFill>
                  <a:srgbClr val="333333"/>
                </a:solidFill>
                <a:latin typeface="Calibri"/>
              </a:rPr>
              <a:t>• AugmentationManager — build_augmented_context, _build_prompt</a:t>
            </a:r>
          </a:p>
          <a:p>
            <a:pPr algn="l"/>
            <a:r>
              <a:rPr sz="1100" b="0">
                <a:solidFill>
                  <a:srgbClr val="333333"/>
                </a:solidFill>
                <a:latin typeface="Calibri"/>
              </a:rPr>
              <a:t>• Retriever + VectorStoreManager — retrieve / build / get_collection</a:t>
            </a:r>
          </a:p>
        </p:txBody>
      </p:sp>
      <p:sp>
        <p:nvSpPr>
          <p:cNvPr id="17" name="Rounded Rectangle 16"/>
          <p:cNvSpPr/>
          <p:nvPr/>
        </p:nvSpPr>
        <p:spPr>
          <a:xfrm>
            <a:off x="6263640" y="3794760"/>
            <a:ext cx="5486400" cy="23774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862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MEMORY + ANALYTICS + SLA</a:t>
            </a:r>
          </a:p>
        </p:txBody>
      </p:sp>
      <p:sp>
        <p:nvSpPr>
          <p:cNvPr id="19" name="TextBox 18"/>
          <p:cNvSpPr txBox="1"/>
          <p:nvPr/>
        </p:nvSpPr>
        <p:spPr>
          <a:xfrm>
            <a:off x="6446520" y="4297680"/>
            <a:ext cx="5166360" cy="1783080"/>
          </a:xfrm>
          <a:prstGeom prst="rect">
            <a:avLst/>
          </a:prstGeom>
          <a:noFill/>
        </p:spPr>
        <p:txBody>
          <a:bodyPr wrap="square" lIns="45720" tIns="27432" rIns="45720" bIns="27432" anchor="t">
            <a:spAutoFit/>
          </a:bodyPr>
          <a:lstStyle/>
          <a:p>
            <a:pPr algn="l"/>
            <a:r>
              <a:rPr sz="1100" b="0">
                <a:solidFill>
                  <a:srgbClr val="333333"/>
                </a:solidFill>
                <a:latin typeface="Calibri"/>
              </a:rPr>
              <a:t>• MemoryManager.save_ticket_log / get_all_ticket_logs / get_ticket_by_id</a:t>
            </a:r>
          </a:p>
          <a:p>
            <a:pPr algn="l"/>
            <a:r>
              <a:rPr sz="1100" b="0">
                <a:solidFill>
                  <a:srgbClr val="333333"/>
                </a:solidFill>
                <a:latin typeface="Calibri"/>
              </a:rPr>
              <a:t>• AnalyticsManager.get_dashboard_summary + helpers</a:t>
            </a:r>
          </a:p>
          <a:p>
            <a:pPr algn="l"/>
            <a:r>
              <a:rPr sz="1100" b="0">
                <a:solidFill>
                  <a:srgbClr val="333333"/>
                </a:solidFill>
                <a:latin typeface="Calibri"/>
              </a:rPr>
              <a:t>• SLAManager.predict_sla(priority, category, guardrail)  (NEW)</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16/35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Guardrails + Role-Based Access (Overview)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GUARDRAIL LAYER</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Runs after normal classification and routing</a:t>
            </a:r>
          </a:p>
          <a:p>
            <a:pPr algn="l"/>
            <a:r>
              <a:rPr sz="1100" b="0">
                <a:solidFill>
                  <a:srgbClr val="333333"/>
                </a:solidFill>
                <a:latin typeface="Calibri"/>
              </a:rPr>
              <a:t>• Overrides priority / team for security &amp; outage signals</a:t>
            </a:r>
          </a:p>
          <a:p>
            <a:pPr algn="l"/>
            <a:r>
              <a:rPr sz="1100" b="0">
                <a:solidFill>
                  <a:srgbClr val="333333"/>
                </a:solidFill>
                <a:latin typeface="Calibri"/>
              </a:rPr>
              <a:t>• Adds a clear reason to the audit trail</a:t>
            </a:r>
          </a:p>
          <a:p>
            <a:pPr algn="l"/>
            <a:r>
              <a:rPr sz="1100" b="0">
                <a:solidFill>
                  <a:srgbClr val="333333"/>
                </a:solidFill>
                <a:latin typeface="Calibri"/>
              </a:rPr>
              <a:t>• Prevents unsafe auto-resolution for critical tickets</a:t>
            </a:r>
          </a:p>
          <a:p>
            <a:pPr algn="l"/>
            <a:r>
              <a:rPr sz="1100" b="0">
                <a:solidFill>
                  <a:srgbClr val="333333"/>
                </a:solidFill>
                <a:latin typeface="Calibri"/>
              </a:rPr>
              <a:t>• Foundation for hybrid rule + model design</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RBAC LAYER</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User sees a clean triage response only</a:t>
            </a:r>
          </a:p>
          <a:p>
            <a:pPr algn="l"/>
            <a:r>
              <a:rPr sz="1100" b="0">
                <a:solidFill>
                  <a:srgbClr val="333333"/>
                </a:solidFill>
                <a:latin typeface="Calibri"/>
              </a:rPr>
              <a:t>• Admin sees analytics, RAG score, sources, audit trail</a:t>
            </a:r>
          </a:p>
          <a:p>
            <a:pPr algn="l"/>
            <a:r>
              <a:rPr sz="1100" b="0">
                <a:solidFill>
                  <a:srgbClr val="333333"/>
                </a:solidFill>
                <a:latin typeface="Calibri"/>
              </a:rPr>
              <a:t>• Future version replaces dropdown with real auth</a:t>
            </a:r>
          </a:p>
          <a:p>
            <a:pPr algn="l"/>
            <a:r>
              <a:rPr sz="1100" b="0">
                <a:solidFill>
                  <a:srgbClr val="333333"/>
                </a:solidFill>
                <a:latin typeface="Calibri"/>
              </a:rPr>
              <a:t>• Sensitive internal decision data stays controlled</a:t>
            </a:r>
          </a:p>
          <a:p>
            <a:pPr algn="l"/>
            <a:r>
              <a:rPr sz="1100" b="0">
                <a:solidFill>
                  <a:srgbClr val="333333"/>
                </a:solidFill>
                <a:latin typeface="Calibri"/>
              </a:rPr>
              <a:t>• Supports compliance and least-privilege access</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17/35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Deterministic Guardrails — Keyword Matching</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HOW IT WORKED</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Fixed keyword list: outage, server down, data loss, unauthorized access</a:t>
            </a:r>
          </a:p>
          <a:p>
            <a:pPr algn="l"/>
            <a:r>
              <a:rPr sz="1100" b="0">
                <a:solidFill>
                  <a:srgbClr val="333333"/>
                </a:solidFill>
                <a:latin typeface="Calibri"/>
              </a:rPr>
              <a:t>• Simple string match against ticket text</a:t>
            </a:r>
          </a:p>
          <a:p>
            <a:pPr algn="l"/>
            <a:r>
              <a:rPr sz="1100" b="0">
                <a:solidFill>
                  <a:srgbClr val="333333"/>
                </a:solidFill>
                <a:latin typeface="Calibri"/>
              </a:rPr>
              <a:t>• If match → guardrail triggered and priority / team adjusted</a:t>
            </a:r>
          </a:p>
          <a:p>
            <a:pPr algn="l"/>
            <a:r>
              <a:rPr sz="1100" b="0">
                <a:solidFill>
                  <a:srgbClr val="333333"/>
                </a:solidFill>
                <a:latin typeface="Calibri"/>
              </a:rPr>
              <a:t>• Reason string stored in audit trail</a:t>
            </a:r>
          </a:p>
          <a:p>
            <a:pPr algn="l"/>
            <a:r>
              <a:rPr sz="1100" b="0">
                <a:solidFill>
                  <a:srgbClr val="333333"/>
                </a:solidFill>
                <a:latin typeface="Calibri"/>
              </a:rPr>
              <a:t>• Runs first — cheapest and fastest safety layer</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STRENGTHS &amp; LIMITATIONS</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Strengths: fast, explainable, zero-cost, easy to review</a:t>
            </a:r>
          </a:p>
          <a:p>
            <a:pPr algn="l"/>
            <a:r>
              <a:rPr sz="1100" b="0">
                <a:solidFill>
                  <a:srgbClr val="333333"/>
                </a:solidFill>
                <a:latin typeface="Calibri"/>
              </a:rPr>
              <a:t>• Misses variations like 'app not reachable', 'no one can login'</a:t>
            </a:r>
          </a:p>
          <a:p>
            <a:pPr algn="l"/>
            <a:r>
              <a:rPr sz="1100" b="0">
                <a:solidFill>
                  <a:srgbClr val="333333"/>
                </a:solidFill>
                <a:latin typeface="Calibri"/>
              </a:rPr>
              <a:t>• No semantic understanding of context</a:t>
            </a:r>
          </a:p>
          <a:p>
            <a:pPr algn="l"/>
            <a:r>
              <a:rPr sz="1100" b="0">
                <a:solidFill>
                  <a:srgbClr val="333333"/>
                </a:solidFill>
                <a:latin typeface="Calibri"/>
              </a:rPr>
              <a:t>• No severity nuance or confidence score</a:t>
            </a:r>
          </a:p>
          <a:p>
            <a:pPr algn="l"/>
            <a:r>
              <a:rPr sz="1100" b="0">
                <a:solidFill>
                  <a:srgbClr val="333333"/>
                </a:solidFill>
                <a:latin typeface="Calibri"/>
              </a:rPr>
              <a:t>• Cannot generalize to new phrasings automatically</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18/35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Model-Based Guardrails — The Upgrade  (NEW)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WHAT</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LLM classifier evaluates the ticket</a:t>
            </a:r>
          </a:p>
          <a:p>
            <a:pPr algn="l"/>
            <a:r>
              <a:rPr sz="1100" b="0">
                <a:solidFill>
                  <a:srgbClr val="333333"/>
                </a:solidFill>
                <a:latin typeface="Calibri"/>
              </a:rPr>
              <a:t>• Detects: production_outage, security_incident, data_loss</a:t>
            </a:r>
          </a:p>
          <a:p>
            <a:pPr algn="l"/>
            <a:r>
              <a:rPr sz="1100" b="0">
                <a:solidFill>
                  <a:srgbClr val="333333"/>
                </a:solidFill>
                <a:latin typeface="Calibri"/>
              </a:rPr>
              <a:t>• Also: unauthorized_access, business_critical, infrastructure_failure</a:t>
            </a:r>
          </a:p>
          <a:p>
            <a:pPr algn="l"/>
            <a:r>
              <a:rPr sz="1100" b="0">
                <a:solidFill>
                  <a:srgbClr val="333333"/>
                </a:solidFill>
                <a:latin typeface="Calibri"/>
              </a:rPr>
              <a:t>• Understands meaning, not just words</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HOW</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Structured JSON output</a:t>
            </a:r>
          </a:p>
          <a:p>
            <a:pPr algn="l"/>
            <a:r>
              <a:rPr sz="1100" b="0">
                <a:solidFill>
                  <a:srgbClr val="333333"/>
                </a:solidFill>
                <a:latin typeface="Calibri"/>
              </a:rPr>
              <a:t>• Fields: guardrail_triggered, guardrail_type, severity, reason, confidence</a:t>
            </a:r>
          </a:p>
          <a:p>
            <a:pPr algn="l"/>
            <a:r>
              <a:rPr sz="1100" b="0">
                <a:solidFill>
                  <a:srgbClr val="333333"/>
                </a:solidFill>
                <a:latin typeface="Calibri"/>
              </a:rPr>
              <a:t>• Runs after rule-based check</a:t>
            </a:r>
          </a:p>
          <a:p>
            <a:pPr algn="l"/>
            <a:r>
              <a:rPr sz="1100" b="0">
                <a:solidFill>
                  <a:srgbClr val="333333"/>
                </a:solidFill>
                <a:latin typeface="Calibri"/>
              </a:rPr>
              <a:t>• Trigger only when confidence ≥ 0.70 (tunable)</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WHY IT'S BETTER</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Catches variations rule-based would miss</a:t>
            </a:r>
          </a:p>
          <a:p>
            <a:pPr algn="l"/>
            <a:r>
              <a:rPr sz="1100" b="0">
                <a:solidFill>
                  <a:srgbClr val="333333"/>
                </a:solidFill>
                <a:latin typeface="Calibri"/>
              </a:rPr>
              <a:t>• Returns severity + reason for transparency</a:t>
            </a:r>
          </a:p>
          <a:p>
            <a:pPr algn="l"/>
            <a:r>
              <a:rPr sz="1100" b="0">
                <a:solidFill>
                  <a:srgbClr val="333333"/>
                </a:solidFill>
                <a:latin typeface="Calibri"/>
              </a:rPr>
              <a:t>• Confidence lets us gate the decision</a:t>
            </a:r>
          </a:p>
          <a:p>
            <a:pPr algn="l"/>
            <a:r>
              <a:rPr sz="1100" b="0">
                <a:solidFill>
                  <a:srgbClr val="333333"/>
                </a:solidFill>
                <a:latin typeface="Calibri"/>
              </a:rPr>
              <a:t>• Sets up SLA and escalation decisions</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19/35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Hybrid Guardrail Flow (Rule + Model)</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200400" y="1280160"/>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Ticket</a:t>
            </a:r>
          </a:p>
        </p:txBody>
      </p:sp>
      <p:sp>
        <p:nvSpPr>
          <p:cNvPr id="9" name="Rounded Rectangle 8"/>
          <p:cNvSpPr/>
          <p:nvPr/>
        </p:nvSpPr>
        <p:spPr>
          <a:xfrm>
            <a:off x="3200400" y="1929384"/>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Rule-based check</a:t>
            </a:r>
          </a:p>
        </p:txBody>
      </p:sp>
      <p:sp>
        <p:nvSpPr>
          <p:cNvPr id="10" name="Rounded Rectangle 9"/>
          <p:cNvSpPr/>
          <p:nvPr/>
        </p:nvSpPr>
        <p:spPr>
          <a:xfrm>
            <a:off x="3200400" y="2578608"/>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Matched?  → YES → Trigger + reason</a:t>
            </a:r>
          </a:p>
        </p:txBody>
      </p:sp>
      <p:sp>
        <p:nvSpPr>
          <p:cNvPr id="11" name="Rounded Rectangle 10"/>
          <p:cNvSpPr/>
          <p:nvPr/>
        </p:nvSpPr>
        <p:spPr>
          <a:xfrm>
            <a:off x="3200400" y="3227832"/>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Otherwise → Model-based guardrail</a:t>
            </a:r>
          </a:p>
        </p:txBody>
      </p:sp>
      <p:sp>
        <p:nvSpPr>
          <p:cNvPr id="12" name="Rounded Rectangle 11"/>
          <p:cNvSpPr/>
          <p:nvPr/>
        </p:nvSpPr>
        <p:spPr>
          <a:xfrm>
            <a:off x="3200400" y="3877056"/>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Confidence ≥ 0.70 ?</a:t>
            </a:r>
          </a:p>
        </p:txBody>
      </p:sp>
      <p:sp>
        <p:nvSpPr>
          <p:cNvPr id="13" name="Rounded Rectangle 12"/>
          <p:cNvSpPr/>
          <p:nvPr/>
        </p:nvSpPr>
        <p:spPr>
          <a:xfrm>
            <a:off x="3200400" y="4526280"/>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YES → Trigger + reason + severity</a:t>
            </a:r>
          </a:p>
        </p:txBody>
      </p:sp>
      <p:sp>
        <p:nvSpPr>
          <p:cNvPr id="14" name="Rounded Rectangle 13"/>
          <p:cNvSpPr/>
          <p:nvPr/>
        </p:nvSpPr>
        <p:spPr>
          <a:xfrm>
            <a:off x="3200400" y="5175504"/>
            <a:ext cx="5852160" cy="502920"/>
          </a:xfrm>
          <a:prstGeom prst="roundRect">
            <a:avLst/>
          </a:prstGeom>
          <a:solidFill>
            <a:srgbClr val="DCE9F7"/>
          </a:solidFill>
          <a:ln w="9525">
            <a:solidFill>
              <a:srgbClr val="1F497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1F497D"/>
                </a:solidFill>
                <a:latin typeface="Calibri"/>
              </a:rPr>
              <a:t>NO → Continue normal flow</a:t>
            </a:r>
          </a:p>
        </p:txBody>
      </p:sp>
      <p:cxnSp>
        <p:nvCxnSpPr>
          <p:cNvPr id="15" name="Connector 14"/>
          <p:cNvCxnSpPr/>
          <p:nvPr/>
        </p:nvCxnSpPr>
        <p:spPr>
          <a:xfrm>
            <a:off x="0" y="1783080"/>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0" y="2432304"/>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0" y="3081528"/>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0" y="3730752"/>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4379976"/>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5029200"/>
            <a:ext cx="0" cy="146304"/>
          </a:xfrm>
          <a:prstGeom prst="line">
            <a:avLst/>
          </a:prstGeom>
          <a:ln w="15875">
            <a:solidFill>
              <a:srgbClr val="1F497D"/>
            </a:solidFill>
            <a:tailEnd type="triangle" w="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6035040"/>
            <a:ext cx="11064240" cy="365760"/>
          </a:xfrm>
          <a:prstGeom prst="rect">
            <a:avLst/>
          </a:prstGeom>
          <a:noFill/>
        </p:spPr>
        <p:txBody>
          <a:bodyPr wrap="square" lIns="45720" tIns="27432" rIns="45720" bIns="27432" anchor="t">
            <a:spAutoFit/>
          </a:bodyPr>
          <a:lstStyle/>
          <a:p>
            <a:pPr algn="ctr"/>
            <a:r>
              <a:rPr sz="1200" b="1">
                <a:solidFill>
                  <a:srgbClr val="1F497D"/>
                </a:solidFill>
                <a:latin typeface="Calibri"/>
              </a:rPr>
              <a:t>Hybrid design combines the speed of rules with the contextual understanding of a model — the recommended production pattern.</a:t>
            </a:r>
          </a:p>
        </p:txBody>
      </p:sp>
      <p:sp>
        <p:nvSpPr>
          <p:cNvPr id="22" name="TextBox 21"/>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20/35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Guardrail Example Scenarios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PRODUCTION OUTAGE</a:t>
            </a:r>
          </a:p>
        </p:txBody>
      </p:sp>
      <p:sp>
        <p:nvSpPr>
          <p:cNvPr id="10" name="TextBox 9"/>
          <p:cNvSpPr txBox="1"/>
          <p:nvPr/>
        </p:nvSpPr>
        <p:spPr>
          <a:xfrm>
            <a:off x="64008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Input: 'Main app not accessible for all users, business stopped'</a:t>
            </a:r>
          </a:p>
          <a:p>
            <a:pPr algn="l"/>
            <a:r>
              <a:rPr sz="1100" b="0">
                <a:solidFill>
                  <a:srgbClr val="333333"/>
                </a:solidFill>
                <a:latin typeface="Calibri"/>
              </a:rPr>
              <a:t>• Output: type = production_outage, severity = critical</a:t>
            </a:r>
          </a:p>
          <a:p>
            <a:pPr algn="l"/>
            <a:r>
              <a:rPr sz="1100" b="0">
                <a:solidFill>
                  <a:srgbClr val="333333"/>
                </a:solidFill>
                <a:latin typeface="Calibri"/>
              </a:rPr>
              <a:t>• Confidence: 0.95 — trigger immediately</a:t>
            </a:r>
          </a:p>
        </p:txBody>
      </p:sp>
      <p:sp>
        <p:nvSpPr>
          <p:cNvPr id="11" name="Rounded Rectangle 10"/>
          <p:cNvSpPr/>
          <p:nvPr/>
        </p:nvSpPr>
        <p:spPr>
          <a:xfrm>
            <a:off x="626364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SECURITY INCIDENT</a:t>
            </a:r>
          </a:p>
        </p:txBody>
      </p:sp>
      <p:sp>
        <p:nvSpPr>
          <p:cNvPr id="13" name="TextBox 12"/>
          <p:cNvSpPr txBox="1"/>
          <p:nvPr/>
        </p:nvSpPr>
        <p:spPr>
          <a:xfrm>
            <a:off x="644652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Input: 'Unknown login into my account, files accessed'</a:t>
            </a:r>
          </a:p>
          <a:p>
            <a:pPr algn="l"/>
            <a:r>
              <a:rPr sz="1100" b="0">
                <a:solidFill>
                  <a:srgbClr val="333333"/>
                </a:solidFill>
                <a:latin typeface="Calibri"/>
              </a:rPr>
              <a:t>• Output: type = security_incident, severity = critical</a:t>
            </a:r>
          </a:p>
          <a:p>
            <a:pPr algn="l"/>
            <a:r>
              <a:rPr sz="1100" b="0">
                <a:solidFill>
                  <a:srgbClr val="333333"/>
                </a:solidFill>
                <a:latin typeface="Calibri"/>
              </a:rPr>
              <a:t>• Confidence: 0.92 — escalate to Security Team</a:t>
            </a:r>
          </a:p>
        </p:txBody>
      </p:sp>
      <p:sp>
        <p:nvSpPr>
          <p:cNvPr id="14" name="Rounded Rectangle 13"/>
          <p:cNvSpPr/>
          <p:nvPr/>
        </p:nvSpPr>
        <p:spPr>
          <a:xfrm>
            <a:off x="45720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0479"/>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DATA LOSS</a:t>
            </a:r>
          </a:p>
        </p:txBody>
      </p:sp>
      <p:sp>
        <p:nvSpPr>
          <p:cNvPr id="16" name="TextBox 15"/>
          <p:cNvSpPr txBox="1"/>
          <p:nvPr/>
        </p:nvSpPr>
        <p:spPr>
          <a:xfrm>
            <a:off x="64008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Input: 'Project files disappeared from shared drive'</a:t>
            </a:r>
          </a:p>
          <a:p>
            <a:pPr algn="l"/>
            <a:r>
              <a:rPr sz="1100" b="0">
                <a:solidFill>
                  <a:srgbClr val="333333"/>
                </a:solidFill>
                <a:latin typeface="Calibri"/>
              </a:rPr>
              <a:t>• Output: type = data_loss, severity = high</a:t>
            </a:r>
          </a:p>
          <a:p>
            <a:pPr algn="l"/>
            <a:r>
              <a:rPr sz="1100" b="0">
                <a:solidFill>
                  <a:srgbClr val="333333"/>
                </a:solidFill>
                <a:latin typeface="Calibri"/>
              </a:rPr>
              <a:t>• Confidence: 0.90 — escalate to Storage/IT Team</a:t>
            </a:r>
          </a:p>
        </p:txBody>
      </p:sp>
      <p:sp>
        <p:nvSpPr>
          <p:cNvPr id="17" name="Rounded Rectangle 16"/>
          <p:cNvSpPr/>
          <p:nvPr/>
        </p:nvSpPr>
        <p:spPr>
          <a:xfrm>
            <a:off x="626364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40479"/>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NORMAL TICKET</a:t>
            </a:r>
          </a:p>
        </p:txBody>
      </p:sp>
      <p:sp>
        <p:nvSpPr>
          <p:cNvPr id="19" name="TextBox 18"/>
          <p:cNvSpPr txBox="1"/>
          <p:nvPr/>
        </p:nvSpPr>
        <p:spPr>
          <a:xfrm>
            <a:off x="644652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Input: 'I forgot my password'</a:t>
            </a:r>
          </a:p>
          <a:p>
            <a:pPr algn="l"/>
            <a:r>
              <a:rPr sz="1100" b="0">
                <a:solidFill>
                  <a:srgbClr val="333333"/>
                </a:solidFill>
                <a:latin typeface="Calibri"/>
              </a:rPr>
              <a:t>• Output: no guardrail triggered</a:t>
            </a:r>
          </a:p>
          <a:p>
            <a:pPr algn="l"/>
            <a:r>
              <a:rPr sz="1100" b="0">
                <a:solidFill>
                  <a:srgbClr val="333333"/>
                </a:solidFill>
                <a:latin typeface="Calibri"/>
              </a:rPr>
              <a:t>• Standard triage flow continues</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21/35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Why Guardrails Matter</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WHY</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Prevent AI from silently mis-routing critical tickets</a:t>
            </a:r>
          </a:p>
          <a:p>
            <a:pPr algn="l"/>
            <a:r>
              <a:rPr sz="1100" b="0">
                <a:solidFill>
                  <a:srgbClr val="333333"/>
                </a:solidFill>
                <a:latin typeface="Calibri"/>
              </a:rPr>
              <a:t>• Safety net for outage / security / data-loss events</a:t>
            </a:r>
          </a:p>
          <a:p>
            <a:pPr algn="l"/>
            <a:r>
              <a:rPr sz="1100" b="0">
                <a:solidFill>
                  <a:srgbClr val="333333"/>
                </a:solidFill>
                <a:latin typeface="Calibri"/>
              </a:rPr>
              <a:t>• Protects business impact and user trust</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WHEN</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Triggered after routing, before final response</a:t>
            </a:r>
          </a:p>
          <a:p>
            <a:pPr algn="l"/>
            <a:r>
              <a:rPr sz="1100" b="0">
                <a:solidFill>
                  <a:srgbClr val="333333"/>
                </a:solidFill>
                <a:latin typeface="Calibri"/>
              </a:rPr>
              <a:t>• Every ticket runs through rule + model checks</a:t>
            </a:r>
          </a:p>
          <a:p>
            <a:pPr algn="l"/>
            <a:r>
              <a:rPr sz="1100" b="0">
                <a:solidFill>
                  <a:srgbClr val="333333"/>
                </a:solidFill>
                <a:latin typeface="Calibri"/>
              </a:rPr>
              <a:t>• Confidence gate avoids false positives</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WHERE</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Sits in the tools layer of the agent</a:t>
            </a:r>
          </a:p>
          <a:p>
            <a:pPr algn="l"/>
            <a:r>
              <a:rPr sz="1100" b="0">
                <a:solidFill>
                  <a:srgbClr val="333333"/>
                </a:solidFill>
                <a:latin typeface="Calibri"/>
              </a:rPr>
              <a:t>• Feeds severity into SLA prediction</a:t>
            </a:r>
          </a:p>
          <a:p>
            <a:pPr algn="l"/>
            <a:r>
              <a:rPr sz="1100" b="0">
                <a:solidFill>
                  <a:srgbClr val="333333"/>
                </a:solidFill>
                <a:latin typeface="Calibri"/>
              </a:rPr>
              <a:t>• Reason stored in audit trail for admin review</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22/35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SLA Prediction — What &amp; Why  (NEW)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WHAT IS SLA</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Service Level Agreement = promised time to respond / resolve</a:t>
            </a:r>
          </a:p>
          <a:p>
            <a:pPr algn="l"/>
            <a:r>
              <a:rPr sz="1100" b="0">
                <a:solidFill>
                  <a:srgbClr val="333333"/>
                </a:solidFill>
                <a:latin typeface="Calibri"/>
              </a:rPr>
              <a:t>• Response time = time to first acknowledgment</a:t>
            </a:r>
          </a:p>
          <a:p>
            <a:pPr algn="l"/>
            <a:r>
              <a:rPr sz="1100" b="0">
                <a:solidFill>
                  <a:srgbClr val="333333"/>
                </a:solidFill>
                <a:latin typeface="Calibri"/>
              </a:rPr>
              <a:t>• Resolution time = time to fully close the ticket</a:t>
            </a:r>
          </a:p>
          <a:p>
            <a:pPr algn="l"/>
            <a:r>
              <a:rPr sz="1100" b="0">
                <a:solidFill>
                  <a:srgbClr val="333333"/>
                </a:solidFill>
                <a:latin typeface="Calibri"/>
              </a:rPr>
              <a:t>• Standard IT metric across ITSM platforms</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WHY IN THIS PROJECT</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Not every ticket is equal — some cannot wait</a:t>
            </a:r>
          </a:p>
          <a:p>
            <a:pPr algn="l"/>
            <a:r>
              <a:rPr sz="1100" b="0">
                <a:solidFill>
                  <a:srgbClr val="333333"/>
                </a:solidFill>
                <a:latin typeface="Calibri"/>
              </a:rPr>
              <a:t>• System must know which tickets risk breaching SLA</a:t>
            </a:r>
          </a:p>
          <a:p>
            <a:pPr algn="l"/>
            <a:r>
              <a:rPr sz="1100" b="0">
                <a:solidFill>
                  <a:srgbClr val="333333"/>
                </a:solidFill>
                <a:latin typeface="Calibri"/>
              </a:rPr>
              <a:t>• Guardrail tells 'critical?' — SLA tells 'how fast?'</a:t>
            </a:r>
          </a:p>
          <a:p>
            <a:pPr algn="l"/>
            <a:r>
              <a:rPr sz="1100" b="0">
                <a:solidFill>
                  <a:srgbClr val="333333"/>
                </a:solidFill>
                <a:latin typeface="Calibri"/>
              </a:rPr>
              <a:t>• Enables proactive escalation, not reactive</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BUSINESS VALUE</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Prevents SLA breach and revenue loss</a:t>
            </a:r>
          </a:p>
          <a:p>
            <a:pPr algn="l"/>
            <a:r>
              <a:rPr sz="1100" b="0">
                <a:solidFill>
                  <a:srgbClr val="333333"/>
                </a:solidFill>
                <a:latin typeface="Calibri"/>
              </a:rPr>
              <a:t>• Improves user trust in support</a:t>
            </a:r>
          </a:p>
          <a:p>
            <a:pPr algn="l"/>
            <a:r>
              <a:rPr sz="1100" b="0">
                <a:solidFill>
                  <a:srgbClr val="333333"/>
                </a:solidFill>
                <a:latin typeface="Calibri"/>
              </a:rPr>
              <a:t>• Early warning on high-risk tickets for admins</a:t>
            </a:r>
          </a:p>
          <a:p>
            <a:pPr algn="l"/>
            <a:r>
              <a:rPr sz="1100" b="0">
                <a:solidFill>
                  <a:srgbClr val="333333"/>
                </a:solidFill>
                <a:latin typeface="Calibri"/>
              </a:rPr>
              <a:t>• Foundation for future SLA analytics</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23/35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SLA Prediction — How It Works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INPUTS &amp; LOGIC</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Inputs: priority, category, guardrail_result</a:t>
            </a:r>
          </a:p>
          <a:p>
            <a:pPr algn="l"/>
            <a:r>
              <a:rPr sz="1100" b="0">
                <a:solidFill>
                  <a:srgbClr val="333333"/>
                </a:solidFill>
                <a:latin typeface="Calibri"/>
              </a:rPr>
              <a:t>• Tiers: Critical (2h), High (4h), Medium (8h), Low (24h)</a:t>
            </a:r>
          </a:p>
          <a:p>
            <a:pPr algn="l"/>
            <a:r>
              <a:rPr sz="1100" b="0">
                <a:solidFill>
                  <a:srgbClr val="333333"/>
                </a:solidFill>
                <a:latin typeface="Calibri"/>
              </a:rPr>
              <a:t>• Guardrail triggers auto-elevate to Critical SLA</a:t>
            </a:r>
          </a:p>
          <a:p>
            <a:pPr algn="l"/>
            <a:r>
              <a:rPr sz="1100" b="0">
                <a:solidFill>
                  <a:srgbClr val="333333"/>
                </a:solidFill>
                <a:latin typeface="Calibri"/>
              </a:rPr>
              <a:t>• Sensitive categories (security / network / database) → High</a:t>
            </a:r>
          </a:p>
          <a:p>
            <a:pPr algn="l"/>
            <a:r>
              <a:rPr sz="1100" b="0">
                <a:solidFill>
                  <a:srgbClr val="333333"/>
                </a:solidFill>
                <a:latin typeface="Calibri"/>
              </a:rPr>
              <a:t>• Simple, explainable, easy for admin review</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OUTPUT (JSON)</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sla_hours — numeric time window</a:t>
            </a:r>
          </a:p>
          <a:p>
            <a:pPr algn="l"/>
            <a:r>
              <a:rPr sz="1100" b="0">
                <a:solidFill>
                  <a:srgbClr val="333333"/>
                </a:solidFill>
                <a:latin typeface="Calibri"/>
              </a:rPr>
              <a:t>• sla_risk — critical / high / medium / low</a:t>
            </a:r>
          </a:p>
          <a:p>
            <a:pPr algn="l"/>
            <a:r>
              <a:rPr sz="1100" b="0">
                <a:solidFill>
                  <a:srgbClr val="333333"/>
                </a:solidFill>
                <a:latin typeface="Calibri"/>
              </a:rPr>
              <a:t>• escalation_required — true / false</a:t>
            </a:r>
          </a:p>
          <a:p>
            <a:pPr algn="l"/>
            <a:r>
              <a:rPr sz="1100" b="0">
                <a:solidFill>
                  <a:srgbClr val="333333"/>
                </a:solidFill>
                <a:latin typeface="Calibri"/>
              </a:rPr>
              <a:t>• escalation_team — incident / senior / specialized / normal</a:t>
            </a:r>
          </a:p>
          <a:p>
            <a:pPr algn="l"/>
            <a:r>
              <a:rPr sz="1100" b="0">
                <a:solidFill>
                  <a:srgbClr val="333333"/>
                </a:solidFill>
                <a:latin typeface="Calibri"/>
              </a:rPr>
              <a:t>• reason — short explanation for audit trail</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24/35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Escalation Logic  (NEW)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21208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280160"/>
            <a:ext cx="4937760" cy="685800"/>
          </a:xfrm>
          <a:prstGeom prst="rect">
            <a:avLst/>
          </a:prstGeom>
          <a:noFill/>
        </p:spPr>
        <p:txBody>
          <a:bodyPr wrap="square" lIns="45720" tIns="27432" rIns="45720" bIns="27432" anchor="ctr">
            <a:spAutoFit/>
          </a:bodyPr>
          <a:lstStyle/>
          <a:p>
            <a:pPr algn="l"/>
            <a:r>
              <a:rPr sz="1200" b="1">
                <a:solidFill>
                  <a:srgbClr val="CE5B41"/>
                </a:solidFill>
                <a:latin typeface="Calibri"/>
              </a:rPr>
              <a:t>Critical priority OR guardrail triggered</a:t>
            </a:r>
          </a:p>
        </p:txBody>
      </p:sp>
      <p:sp>
        <p:nvSpPr>
          <p:cNvPr id="10" name="Rounded Rectangle 9"/>
          <p:cNvSpPr/>
          <p:nvPr/>
        </p:nvSpPr>
        <p:spPr>
          <a:xfrm>
            <a:off x="5806440" y="1280160"/>
            <a:ext cx="4114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943600" y="1280160"/>
            <a:ext cx="3840480" cy="685800"/>
          </a:xfrm>
          <a:prstGeom prst="rect">
            <a:avLst/>
          </a:prstGeom>
          <a:noFill/>
        </p:spPr>
        <p:txBody>
          <a:bodyPr wrap="square" lIns="45720" tIns="27432" rIns="45720" bIns="27432" anchor="ctr">
            <a:spAutoFit/>
          </a:bodyPr>
          <a:lstStyle/>
          <a:p>
            <a:pPr algn="l"/>
            <a:r>
              <a:rPr sz="1200" b="0">
                <a:solidFill>
                  <a:srgbClr val="333333"/>
                </a:solidFill>
                <a:latin typeface="Calibri"/>
              </a:rPr>
              <a:t>Incident Response Team</a:t>
            </a:r>
          </a:p>
        </p:txBody>
      </p:sp>
      <p:sp>
        <p:nvSpPr>
          <p:cNvPr id="12" name="Rounded Rectangle 11"/>
          <p:cNvSpPr/>
          <p:nvPr/>
        </p:nvSpPr>
        <p:spPr>
          <a:xfrm>
            <a:off x="10058400" y="1280160"/>
            <a:ext cx="1828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058400" y="1280160"/>
            <a:ext cx="1828800" cy="685800"/>
          </a:xfrm>
          <a:prstGeom prst="rect">
            <a:avLst/>
          </a:prstGeom>
          <a:noFill/>
        </p:spPr>
        <p:txBody>
          <a:bodyPr wrap="square" lIns="45720" tIns="27432" rIns="45720" bIns="27432" anchor="ctr">
            <a:spAutoFit/>
          </a:bodyPr>
          <a:lstStyle/>
          <a:p>
            <a:pPr algn="ctr"/>
            <a:r>
              <a:rPr sz="1200" b="1">
                <a:solidFill>
                  <a:srgbClr val="1F497D"/>
                </a:solidFill>
                <a:latin typeface="Calibri"/>
              </a:rPr>
              <a:t>SLA 2h</a:t>
            </a:r>
          </a:p>
        </p:txBody>
      </p:sp>
      <p:sp>
        <p:nvSpPr>
          <p:cNvPr id="14" name="Rounded Rectangle 13"/>
          <p:cNvSpPr/>
          <p:nvPr/>
        </p:nvSpPr>
        <p:spPr>
          <a:xfrm>
            <a:off x="457200" y="2075688"/>
            <a:ext cx="521208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 y="2075688"/>
            <a:ext cx="4937760" cy="685800"/>
          </a:xfrm>
          <a:prstGeom prst="rect">
            <a:avLst/>
          </a:prstGeom>
          <a:noFill/>
        </p:spPr>
        <p:txBody>
          <a:bodyPr wrap="square" lIns="45720" tIns="27432" rIns="45720" bIns="27432" anchor="ctr">
            <a:spAutoFit/>
          </a:bodyPr>
          <a:lstStyle/>
          <a:p>
            <a:pPr algn="l"/>
            <a:r>
              <a:rPr sz="1200" b="1">
                <a:solidFill>
                  <a:srgbClr val="7A8C3A"/>
                </a:solidFill>
                <a:latin typeface="Calibri"/>
              </a:rPr>
              <a:t>High priority</a:t>
            </a:r>
          </a:p>
        </p:txBody>
      </p:sp>
      <p:sp>
        <p:nvSpPr>
          <p:cNvPr id="16" name="Rounded Rectangle 15"/>
          <p:cNvSpPr/>
          <p:nvPr/>
        </p:nvSpPr>
        <p:spPr>
          <a:xfrm>
            <a:off x="5806440" y="2075688"/>
            <a:ext cx="4114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943600" y="2075688"/>
            <a:ext cx="3840480" cy="685800"/>
          </a:xfrm>
          <a:prstGeom prst="rect">
            <a:avLst/>
          </a:prstGeom>
          <a:noFill/>
        </p:spPr>
        <p:txBody>
          <a:bodyPr wrap="square" lIns="45720" tIns="27432" rIns="45720" bIns="27432" anchor="ctr">
            <a:spAutoFit/>
          </a:bodyPr>
          <a:lstStyle/>
          <a:p>
            <a:pPr algn="l"/>
            <a:r>
              <a:rPr sz="1200" b="0">
                <a:solidFill>
                  <a:srgbClr val="333333"/>
                </a:solidFill>
                <a:latin typeface="Calibri"/>
              </a:rPr>
              <a:t>Senior Support Team</a:t>
            </a:r>
          </a:p>
        </p:txBody>
      </p:sp>
      <p:sp>
        <p:nvSpPr>
          <p:cNvPr id="18" name="Rounded Rectangle 17"/>
          <p:cNvSpPr/>
          <p:nvPr/>
        </p:nvSpPr>
        <p:spPr>
          <a:xfrm>
            <a:off x="10058400" y="2075688"/>
            <a:ext cx="1828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058400" y="2075688"/>
            <a:ext cx="1828800" cy="685800"/>
          </a:xfrm>
          <a:prstGeom prst="rect">
            <a:avLst/>
          </a:prstGeom>
          <a:noFill/>
        </p:spPr>
        <p:txBody>
          <a:bodyPr wrap="square" lIns="45720" tIns="27432" rIns="45720" bIns="27432" anchor="ctr">
            <a:spAutoFit/>
          </a:bodyPr>
          <a:lstStyle/>
          <a:p>
            <a:pPr algn="ctr"/>
            <a:r>
              <a:rPr sz="1200" b="1">
                <a:solidFill>
                  <a:srgbClr val="1F497D"/>
                </a:solidFill>
                <a:latin typeface="Calibri"/>
              </a:rPr>
              <a:t>SLA 4h</a:t>
            </a:r>
          </a:p>
        </p:txBody>
      </p:sp>
      <p:sp>
        <p:nvSpPr>
          <p:cNvPr id="20" name="Rounded Rectangle 19"/>
          <p:cNvSpPr/>
          <p:nvPr/>
        </p:nvSpPr>
        <p:spPr>
          <a:xfrm>
            <a:off x="457200" y="2871215"/>
            <a:ext cx="521208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0080" y="2871215"/>
            <a:ext cx="4937760" cy="685800"/>
          </a:xfrm>
          <a:prstGeom prst="rect">
            <a:avLst/>
          </a:prstGeom>
          <a:noFill/>
        </p:spPr>
        <p:txBody>
          <a:bodyPr wrap="square" lIns="45720" tIns="27432" rIns="45720" bIns="27432" anchor="ctr">
            <a:spAutoFit/>
          </a:bodyPr>
          <a:lstStyle/>
          <a:p>
            <a:pPr algn="l"/>
            <a:r>
              <a:rPr sz="1200" b="1">
                <a:solidFill>
                  <a:srgbClr val="CE5B41"/>
                </a:solidFill>
                <a:latin typeface="Calibri"/>
              </a:rPr>
              <a:t>Security / Network / Database category</a:t>
            </a:r>
          </a:p>
        </p:txBody>
      </p:sp>
      <p:sp>
        <p:nvSpPr>
          <p:cNvPr id="22" name="Rounded Rectangle 21"/>
          <p:cNvSpPr/>
          <p:nvPr/>
        </p:nvSpPr>
        <p:spPr>
          <a:xfrm>
            <a:off x="5806440" y="2871215"/>
            <a:ext cx="4114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943600" y="2871215"/>
            <a:ext cx="3840480" cy="685800"/>
          </a:xfrm>
          <a:prstGeom prst="rect">
            <a:avLst/>
          </a:prstGeom>
          <a:noFill/>
        </p:spPr>
        <p:txBody>
          <a:bodyPr wrap="square" lIns="45720" tIns="27432" rIns="45720" bIns="27432" anchor="ctr">
            <a:spAutoFit/>
          </a:bodyPr>
          <a:lstStyle/>
          <a:p>
            <a:pPr algn="l"/>
            <a:r>
              <a:rPr sz="1200" b="0">
                <a:solidFill>
                  <a:srgbClr val="333333"/>
                </a:solidFill>
                <a:latin typeface="Calibri"/>
              </a:rPr>
              <a:t>Specialized Support Team</a:t>
            </a:r>
          </a:p>
        </p:txBody>
      </p:sp>
      <p:sp>
        <p:nvSpPr>
          <p:cNvPr id="24" name="Rounded Rectangle 23"/>
          <p:cNvSpPr/>
          <p:nvPr/>
        </p:nvSpPr>
        <p:spPr>
          <a:xfrm>
            <a:off x="10058400" y="2871215"/>
            <a:ext cx="1828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0058400" y="2871215"/>
            <a:ext cx="1828800" cy="685800"/>
          </a:xfrm>
          <a:prstGeom prst="rect">
            <a:avLst/>
          </a:prstGeom>
          <a:noFill/>
        </p:spPr>
        <p:txBody>
          <a:bodyPr wrap="square" lIns="45720" tIns="27432" rIns="45720" bIns="27432" anchor="ctr">
            <a:spAutoFit/>
          </a:bodyPr>
          <a:lstStyle/>
          <a:p>
            <a:pPr algn="ctr"/>
            <a:r>
              <a:rPr sz="1200" b="1">
                <a:solidFill>
                  <a:srgbClr val="1F497D"/>
                </a:solidFill>
                <a:latin typeface="Calibri"/>
              </a:rPr>
              <a:t>SLA 4h</a:t>
            </a:r>
          </a:p>
        </p:txBody>
      </p:sp>
      <p:sp>
        <p:nvSpPr>
          <p:cNvPr id="26" name="Rounded Rectangle 25"/>
          <p:cNvSpPr/>
          <p:nvPr/>
        </p:nvSpPr>
        <p:spPr>
          <a:xfrm>
            <a:off x="457200" y="3666744"/>
            <a:ext cx="521208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0080" y="3666744"/>
            <a:ext cx="4937760" cy="685800"/>
          </a:xfrm>
          <a:prstGeom prst="rect">
            <a:avLst/>
          </a:prstGeom>
          <a:noFill/>
        </p:spPr>
        <p:txBody>
          <a:bodyPr wrap="square" lIns="45720" tIns="27432" rIns="45720" bIns="27432" anchor="ctr">
            <a:spAutoFit/>
          </a:bodyPr>
          <a:lstStyle/>
          <a:p>
            <a:pPr algn="l"/>
            <a:r>
              <a:rPr sz="1200" b="1">
                <a:solidFill>
                  <a:srgbClr val="7A8C3A"/>
                </a:solidFill>
                <a:latin typeface="Calibri"/>
              </a:rPr>
              <a:t>Medium priority</a:t>
            </a:r>
          </a:p>
        </p:txBody>
      </p:sp>
      <p:sp>
        <p:nvSpPr>
          <p:cNvPr id="28" name="Rounded Rectangle 27"/>
          <p:cNvSpPr/>
          <p:nvPr/>
        </p:nvSpPr>
        <p:spPr>
          <a:xfrm>
            <a:off x="5806440" y="3666744"/>
            <a:ext cx="4114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943600" y="3666744"/>
            <a:ext cx="3840480" cy="685800"/>
          </a:xfrm>
          <a:prstGeom prst="rect">
            <a:avLst/>
          </a:prstGeom>
          <a:noFill/>
        </p:spPr>
        <p:txBody>
          <a:bodyPr wrap="square" lIns="45720" tIns="27432" rIns="45720" bIns="27432" anchor="ctr">
            <a:spAutoFit/>
          </a:bodyPr>
          <a:lstStyle/>
          <a:p>
            <a:pPr algn="l"/>
            <a:r>
              <a:rPr sz="1200" b="0">
                <a:solidFill>
                  <a:srgbClr val="333333"/>
                </a:solidFill>
                <a:latin typeface="Calibri"/>
              </a:rPr>
              <a:t>Normal Support</a:t>
            </a:r>
          </a:p>
        </p:txBody>
      </p:sp>
      <p:sp>
        <p:nvSpPr>
          <p:cNvPr id="30" name="Rounded Rectangle 29"/>
          <p:cNvSpPr/>
          <p:nvPr/>
        </p:nvSpPr>
        <p:spPr>
          <a:xfrm>
            <a:off x="10058400" y="3666744"/>
            <a:ext cx="1828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058400" y="3666744"/>
            <a:ext cx="1828800" cy="685800"/>
          </a:xfrm>
          <a:prstGeom prst="rect">
            <a:avLst/>
          </a:prstGeom>
          <a:noFill/>
        </p:spPr>
        <p:txBody>
          <a:bodyPr wrap="square" lIns="45720" tIns="27432" rIns="45720" bIns="27432" anchor="ctr">
            <a:spAutoFit/>
          </a:bodyPr>
          <a:lstStyle/>
          <a:p>
            <a:pPr algn="ctr"/>
            <a:r>
              <a:rPr sz="1200" b="1">
                <a:solidFill>
                  <a:srgbClr val="1F497D"/>
                </a:solidFill>
                <a:latin typeface="Calibri"/>
              </a:rPr>
              <a:t>SLA 8h</a:t>
            </a:r>
          </a:p>
        </p:txBody>
      </p:sp>
      <p:sp>
        <p:nvSpPr>
          <p:cNvPr id="32" name="Rounded Rectangle 31"/>
          <p:cNvSpPr/>
          <p:nvPr/>
        </p:nvSpPr>
        <p:spPr>
          <a:xfrm>
            <a:off x="457200" y="4462272"/>
            <a:ext cx="521208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40080" y="4462272"/>
            <a:ext cx="4937760" cy="685800"/>
          </a:xfrm>
          <a:prstGeom prst="rect">
            <a:avLst/>
          </a:prstGeom>
          <a:noFill/>
        </p:spPr>
        <p:txBody>
          <a:bodyPr wrap="square" lIns="45720" tIns="27432" rIns="45720" bIns="27432" anchor="ctr">
            <a:spAutoFit/>
          </a:bodyPr>
          <a:lstStyle/>
          <a:p>
            <a:pPr algn="l"/>
            <a:r>
              <a:rPr sz="1200" b="1">
                <a:solidFill>
                  <a:srgbClr val="CE5B41"/>
                </a:solidFill>
                <a:latin typeface="Calibri"/>
              </a:rPr>
              <a:t>Low priority</a:t>
            </a:r>
          </a:p>
        </p:txBody>
      </p:sp>
      <p:sp>
        <p:nvSpPr>
          <p:cNvPr id="34" name="Rounded Rectangle 33"/>
          <p:cNvSpPr/>
          <p:nvPr/>
        </p:nvSpPr>
        <p:spPr>
          <a:xfrm>
            <a:off x="5806440" y="4462272"/>
            <a:ext cx="4114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43600" y="4462272"/>
            <a:ext cx="3840480" cy="685800"/>
          </a:xfrm>
          <a:prstGeom prst="rect">
            <a:avLst/>
          </a:prstGeom>
          <a:noFill/>
        </p:spPr>
        <p:txBody>
          <a:bodyPr wrap="square" lIns="45720" tIns="27432" rIns="45720" bIns="27432" anchor="ctr">
            <a:spAutoFit/>
          </a:bodyPr>
          <a:lstStyle/>
          <a:p>
            <a:pPr algn="l"/>
            <a:r>
              <a:rPr sz="1200" b="0">
                <a:solidFill>
                  <a:srgbClr val="333333"/>
                </a:solidFill>
                <a:latin typeface="Calibri"/>
              </a:rPr>
              <a:t>Normal Support</a:t>
            </a:r>
          </a:p>
        </p:txBody>
      </p:sp>
      <p:sp>
        <p:nvSpPr>
          <p:cNvPr id="36" name="Rounded Rectangle 35"/>
          <p:cNvSpPr/>
          <p:nvPr/>
        </p:nvSpPr>
        <p:spPr>
          <a:xfrm>
            <a:off x="10058400" y="4462272"/>
            <a:ext cx="1828800" cy="68580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0058400" y="4462272"/>
            <a:ext cx="1828800" cy="685800"/>
          </a:xfrm>
          <a:prstGeom prst="rect">
            <a:avLst/>
          </a:prstGeom>
          <a:noFill/>
        </p:spPr>
        <p:txBody>
          <a:bodyPr wrap="square" lIns="45720" tIns="27432" rIns="45720" bIns="27432" anchor="ctr">
            <a:spAutoFit/>
          </a:bodyPr>
          <a:lstStyle/>
          <a:p>
            <a:pPr algn="ctr"/>
            <a:r>
              <a:rPr sz="1200" b="1">
                <a:solidFill>
                  <a:srgbClr val="1F497D"/>
                </a:solidFill>
                <a:latin typeface="Calibri"/>
              </a:rPr>
              <a:t>SLA 24h</a:t>
            </a:r>
          </a:p>
        </p:txBody>
      </p:sp>
      <p:sp>
        <p:nvSpPr>
          <p:cNvPr id="38" name="TextBox 37"/>
          <p:cNvSpPr txBox="1"/>
          <p:nvPr/>
        </p:nvSpPr>
        <p:spPr>
          <a:xfrm>
            <a:off x="457200" y="6035040"/>
            <a:ext cx="11247120" cy="365760"/>
          </a:xfrm>
          <a:prstGeom prst="rect">
            <a:avLst/>
          </a:prstGeom>
          <a:noFill/>
        </p:spPr>
        <p:txBody>
          <a:bodyPr wrap="square" lIns="45720" tIns="27432" rIns="45720" bIns="27432" anchor="t">
            <a:spAutoFit/>
          </a:bodyPr>
          <a:lstStyle/>
          <a:p>
            <a:pPr algn="ctr"/>
            <a:r>
              <a:rPr sz="1200" b="1">
                <a:solidFill>
                  <a:srgbClr val="1F497D"/>
                </a:solidFill>
                <a:latin typeface="Calibri"/>
              </a:rPr>
              <a:t>Every escalation adds a clear reason line to the audit trail.</a:t>
            </a:r>
          </a:p>
        </p:txBody>
      </p:sp>
      <p:sp>
        <p:nvSpPr>
          <p:cNvPr id="39" name="TextBox 38"/>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25/35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SLA + Escalation Examples  (NEW)</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PRODUCTION APP DOWN</a:t>
            </a:r>
          </a:p>
        </p:txBody>
      </p:sp>
      <p:sp>
        <p:nvSpPr>
          <p:cNvPr id="10" name="TextBox 9"/>
          <p:cNvSpPr txBox="1"/>
          <p:nvPr/>
        </p:nvSpPr>
        <p:spPr>
          <a:xfrm>
            <a:off x="64008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Priority: Critical  |  SLA: 2 hours</a:t>
            </a:r>
          </a:p>
          <a:p>
            <a:pPr algn="l"/>
            <a:r>
              <a:rPr sz="1100" b="0">
                <a:solidFill>
                  <a:srgbClr val="333333"/>
                </a:solidFill>
                <a:latin typeface="Calibri"/>
              </a:rPr>
              <a:t>• Escalation: Yes → Incident Response Team</a:t>
            </a:r>
          </a:p>
          <a:p>
            <a:pPr algn="l"/>
            <a:r>
              <a:rPr sz="1100" b="0">
                <a:solidFill>
                  <a:srgbClr val="333333"/>
                </a:solidFill>
                <a:latin typeface="Calibri"/>
              </a:rPr>
              <a:t>• Reason: Guardrail triggered for production outage</a:t>
            </a:r>
          </a:p>
        </p:txBody>
      </p:sp>
      <p:sp>
        <p:nvSpPr>
          <p:cNvPr id="11" name="Rounded Rectangle 10"/>
          <p:cNvSpPr/>
          <p:nvPr/>
        </p:nvSpPr>
        <p:spPr>
          <a:xfrm>
            <a:off x="626364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DATABASE SLOW FOR MANY USERS</a:t>
            </a:r>
          </a:p>
        </p:txBody>
      </p:sp>
      <p:sp>
        <p:nvSpPr>
          <p:cNvPr id="13" name="TextBox 12"/>
          <p:cNvSpPr txBox="1"/>
          <p:nvPr/>
        </p:nvSpPr>
        <p:spPr>
          <a:xfrm>
            <a:off x="644652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Priority: High  |  SLA: 4 hours</a:t>
            </a:r>
          </a:p>
          <a:p>
            <a:pPr algn="l"/>
            <a:r>
              <a:rPr sz="1100" b="0">
                <a:solidFill>
                  <a:srgbClr val="333333"/>
                </a:solidFill>
                <a:latin typeface="Calibri"/>
              </a:rPr>
              <a:t>• Escalation: Yes → Specialized Support Team</a:t>
            </a:r>
          </a:p>
          <a:p>
            <a:pPr algn="l"/>
            <a:r>
              <a:rPr sz="1100" b="0">
                <a:solidFill>
                  <a:srgbClr val="333333"/>
                </a:solidFill>
                <a:latin typeface="Calibri"/>
              </a:rPr>
              <a:t>• Reason: Sensitive category with wide impact</a:t>
            </a:r>
          </a:p>
        </p:txBody>
      </p:sp>
      <p:sp>
        <p:nvSpPr>
          <p:cNvPr id="14" name="Rounded Rectangle 13"/>
          <p:cNvSpPr/>
          <p:nvPr/>
        </p:nvSpPr>
        <p:spPr>
          <a:xfrm>
            <a:off x="45720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0479"/>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PASSWORD RESET</a:t>
            </a:r>
          </a:p>
        </p:txBody>
      </p:sp>
      <p:sp>
        <p:nvSpPr>
          <p:cNvPr id="16" name="TextBox 15"/>
          <p:cNvSpPr txBox="1"/>
          <p:nvPr/>
        </p:nvSpPr>
        <p:spPr>
          <a:xfrm>
            <a:off x="64008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Priority: Low  |  SLA: 24 hours</a:t>
            </a:r>
          </a:p>
          <a:p>
            <a:pPr algn="l"/>
            <a:r>
              <a:rPr sz="1100" b="0">
                <a:solidFill>
                  <a:srgbClr val="333333"/>
                </a:solidFill>
                <a:latin typeface="Calibri"/>
              </a:rPr>
              <a:t>• Escalation: No → Normal Support</a:t>
            </a:r>
          </a:p>
          <a:p>
            <a:pPr algn="l"/>
            <a:r>
              <a:rPr sz="1100" b="0">
                <a:solidFill>
                  <a:srgbClr val="333333"/>
                </a:solidFill>
                <a:latin typeface="Calibri"/>
              </a:rPr>
              <a:t>• Reason: Standard SLA window</a:t>
            </a:r>
          </a:p>
        </p:txBody>
      </p:sp>
      <p:sp>
        <p:nvSpPr>
          <p:cNvPr id="17" name="Rounded Rectangle 16"/>
          <p:cNvSpPr/>
          <p:nvPr/>
        </p:nvSpPr>
        <p:spPr>
          <a:xfrm>
            <a:off x="626364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40479"/>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SUSPICIOUS LOGIN ATTEMPT</a:t>
            </a:r>
          </a:p>
        </p:txBody>
      </p:sp>
      <p:sp>
        <p:nvSpPr>
          <p:cNvPr id="19" name="TextBox 18"/>
          <p:cNvSpPr txBox="1"/>
          <p:nvPr/>
        </p:nvSpPr>
        <p:spPr>
          <a:xfrm>
            <a:off x="644652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Priority: Critical  |  SLA: 2 hours</a:t>
            </a:r>
          </a:p>
          <a:p>
            <a:pPr algn="l"/>
            <a:r>
              <a:rPr sz="1100" b="0">
                <a:solidFill>
                  <a:srgbClr val="333333"/>
                </a:solidFill>
                <a:latin typeface="Calibri"/>
              </a:rPr>
              <a:t>• Escalation: Yes → Security Team</a:t>
            </a:r>
          </a:p>
          <a:p>
            <a:pPr algn="l"/>
            <a:r>
              <a:rPr sz="1100" b="0">
                <a:solidFill>
                  <a:srgbClr val="333333"/>
                </a:solidFill>
                <a:latin typeface="Calibri"/>
              </a:rPr>
              <a:t>• Reason: Security incident detected by guardrail</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26/35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Confidence, Cache &amp; Fallback Strategy</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CACHE</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Return prior similar answer when appropriate</a:t>
            </a:r>
          </a:p>
          <a:p>
            <a:pPr algn="l"/>
            <a:r>
              <a:rPr sz="1100" b="0">
                <a:solidFill>
                  <a:srgbClr val="333333"/>
                </a:solidFill>
                <a:latin typeface="Calibri"/>
              </a:rPr>
              <a:t>• Reduces latency and LLM cost</a:t>
            </a:r>
          </a:p>
          <a:p>
            <a:pPr algn="l"/>
            <a:r>
              <a:rPr sz="1100" b="0">
                <a:solidFill>
                  <a:srgbClr val="333333"/>
                </a:solidFill>
                <a:latin typeface="Calibri"/>
              </a:rPr>
              <a:t>• Improves consistency across similar tickets</a:t>
            </a:r>
          </a:p>
          <a:p>
            <a:pPr algn="l"/>
            <a:r>
              <a:rPr sz="1100" b="0">
                <a:solidFill>
                  <a:srgbClr val="333333"/>
                </a:solidFill>
                <a:latin typeface="Calibri"/>
              </a:rPr>
              <a:t>• Cache hits still logged for admin review</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CONFIDENCE</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Combines RAG score, fallback usage, guardrail state</a:t>
            </a:r>
          </a:p>
          <a:p>
            <a:pPr algn="l"/>
            <a:r>
              <a:rPr sz="1100" b="0">
                <a:solidFill>
                  <a:srgbClr val="333333"/>
                </a:solidFill>
                <a:latin typeface="Calibri"/>
              </a:rPr>
              <a:t>• Low confidence signals human-in-loop review</a:t>
            </a:r>
          </a:p>
          <a:p>
            <a:pPr algn="l"/>
            <a:r>
              <a:rPr sz="1100" b="0">
                <a:solidFill>
                  <a:srgbClr val="333333"/>
                </a:solidFill>
                <a:latin typeface="Calibri"/>
              </a:rPr>
              <a:t>• Confidence stored on every ticket for evaluation</a:t>
            </a:r>
          </a:p>
          <a:p>
            <a:pPr algn="l"/>
            <a:r>
              <a:rPr sz="1100" b="0">
                <a:solidFill>
                  <a:srgbClr val="333333"/>
                </a:solidFill>
                <a:latin typeface="Calibri"/>
              </a:rPr>
              <a:t>• Helps tune thresholds over time</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FALLBACK</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Web / generic answer when internal KB is weak</a:t>
            </a:r>
          </a:p>
          <a:p>
            <a:pPr algn="l"/>
            <a:r>
              <a:rPr sz="1100" b="0">
                <a:solidFill>
                  <a:srgbClr val="333333"/>
                </a:solidFill>
                <a:latin typeface="Calibri"/>
              </a:rPr>
              <a:t>• Prevents forcing bad context into the response</a:t>
            </a:r>
          </a:p>
          <a:p>
            <a:pPr algn="l"/>
            <a:r>
              <a:rPr sz="1100" b="0">
                <a:solidFill>
                  <a:srgbClr val="333333"/>
                </a:solidFill>
                <a:latin typeface="Calibri"/>
              </a:rPr>
              <a:t>• Fallback usage clearly marked in audit trail</a:t>
            </a:r>
          </a:p>
          <a:p>
            <a:pPr algn="l"/>
            <a:r>
              <a:rPr sz="1100" b="0">
                <a:solidFill>
                  <a:srgbClr val="333333"/>
                </a:solidFill>
                <a:latin typeface="Calibri"/>
              </a:rPr>
              <a:t>• Signal for improving KB in next iteration</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27/35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Memory &amp; Audit Trail</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WHAT IS STORED</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Ticket ID, timestamps, request data</a:t>
            </a:r>
          </a:p>
          <a:p>
            <a:pPr algn="l"/>
            <a:r>
              <a:rPr sz="1100" b="0">
                <a:solidFill>
                  <a:srgbClr val="333333"/>
                </a:solidFill>
                <a:latin typeface="Calibri"/>
              </a:rPr>
              <a:t>• Category, priority, assigned team</a:t>
            </a:r>
          </a:p>
          <a:p>
            <a:pPr algn="l"/>
            <a:r>
              <a:rPr sz="1100" b="0">
                <a:solidFill>
                  <a:srgbClr val="333333"/>
                </a:solidFill>
                <a:latin typeface="Calibri"/>
              </a:rPr>
              <a:t>• RAG score, retrieved sources, fallback flag</a:t>
            </a:r>
          </a:p>
          <a:p>
            <a:pPr algn="l"/>
            <a:r>
              <a:rPr sz="1100" b="0">
                <a:solidFill>
                  <a:srgbClr val="333333"/>
                </a:solidFill>
                <a:latin typeface="Calibri"/>
              </a:rPr>
              <a:t>• Guardrail result, source (rule / model), reason</a:t>
            </a:r>
          </a:p>
          <a:p>
            <a:pPr algn="l"/>
            <a:r>
              <a:rPr sz="1100" b="0">
                <a:solidFill>
                  <a:srgbClr val="333333"/>
                </a:solidFill>
                <a:latin typeface="Calibri"/>
              </a:rPr>
              <a:t>• SLA result and escalation decision</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WHY IT MATTERS</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Every AI decision becomes reviewable</a:t>
            </a:r>
          </a:p>
          <a:p>
            <a:pPr algn="l"/>
            <a:r>
              <a:rPr sz="1100" b="0">
                <a:solidFill>
                  <a:srgbClr val="333333"/>
                </a:solidFill>
                <a:latin typeface="Calibri"/>
              </a:rPr>
              <a:t>• Supports compliance and post-incident review</a:t>
            </a:r>
          </a:p>
          <a:p>
            <a:pPr algn="l"/>
            <a:r>
              <a:rPr sz="1100" b="0">
                <a:solidFill>
                  <a:srgbClr val="333333"/>
                </a:solidFill>
                <a:latin typeface="Calibri"/>
              </a:rPr>
              <a:t>• Powers admin dashboard analytics</a:t>
            </a:r>
          </a:p>
          <a:p>
            <a:pPr algn="l"/>
            <a:r>
              <a:rPr sz="1100" b="0">
                <a:solidFill>
                  <a:srgbClr val="333333"/>
                </a:solidFill>
                <a:latin typeface="Calibri"/>
              </a:rPr>
              <a:t>• Base for future feedback loop and evaluation</a:t>
            </a:r>
          </a:p>
          <a:p>
            <a:pPr algn="l"/>
            <a:r>
              <a:rPr sz="1100" b="0">
                <a:solidFill>
                  <a:srgbClr val="333333"/>
                </a:solidFill>
                <a:latin typeface="Calibri"/>
              </a:rPr>
              <a:t>• Enables governance across the support workflow</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28/35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Admin Analytics Dashboard</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TICKET VOLUME</a:t>
            </a:r>
          </a:p>
        </p:txBody>
      </p:sp>
      <p:sp>
        <p:nvSpPr>
          <p:cNvPr id="10" name="TextBox 9"/>
          <p:cNvSpPr txBox="1"/>
          <p:nvPr/>
        </p:nvSpPr>
        <p:spPr>
          <a:xfrm>
            <a:off x="64008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Total tickets processed</a:t>
            </a:r>
          </a:p>
          <a:p>
            <a:pPr algn="l"/>
            <a:r>
              <a:rPr sz="1100" b="0">
                <a:solidFill>
                  <a:srgbClr val="333333"/>
                </a:solidFill>
                <a:latin typeface="Calibri"/>
              </a:rPr>
              <a:t>• Breakdown by category and priority</a:t>
            </a:r>
          </a:p>
          <a:p>
            <a:pPr algn="l"/>
            <a:r>
              <a:rPr sz="1100" b="0">
                <a:solidFill>
                  <a:srgbClr val="333333"/>
                </a:solidFill>
                <a:latin typeface="Calibri"/>
              </a:rPr>
              <a:t>• Trend over time for planning</a:t>
            </a:r>
          </a:p>
        </p:txBody>
      </p:sp>
      <p:sp>
        <p:nvSpPr>
          <p:cNvPr id="11" name="Rounded Rectangle 10"/>
          <p:cNvSpPr/>
          <p:nvPr/>
        </p:nvSpPr>
        <p:spPr>
          <a:xfrm>
            <a:off x="626364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RAG vs FALLBACK</a:t>
            </a:r>
          </a:p>
        </p:txBody>
      </p:sp>
      <p:sp>
        <p:nvSpPr>
          <p:cNvPr id="13" name="TextBox 12"/>
          <p:cNvSpPr txBox="1"/>
          <p:nvPr/>
        </p:nvSpPr>
        <p:spPr>
          <a:xfrm>
            <a:off x="644652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Ratio of internal KB answers vs fallback</a:t>
            </a:r>
          </a:p>
          <a:p>
            <a:pPr algn="l"/>
            <a:r>
              <a:rPr sz="1100" b="0">
                <a:solidFill>
                  <a:srgbClr val="333333"/>
                </a:solidFill>
                <a:latin typeface="Calibri"/>
              </a:rPr>
              <a:t>• Signal for retrieval and KB quality</a:t>
            </a:r>
          </a:p>
          <a:p>
            <a:pPr algn="l"/>
            <a:r>
              <a:rPr sz="1100" b="0">
                <a:solidFill>
                  <a:srgbClr val="333333"/>
                </a:solidFill>
                <a:latin typeface="Calibri"/>
              </a:rPr>
              <a:t>• Highlights topics missing from KB</a:t>
            </a:r>
          </a:p>
        </p:txBody>
      </p:sp>
      <p:sp>
        <p:nvSpPr>
          <p:cNvPr id="14" name="Rounded Rectangle 13"/>
          <p:cNvSpPr/>
          <p:nvPr/>
        </p:nvSpPr>
        <p:spPr>
          <a:xfrm>
            <a:off x="45720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0479"/>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GUARDRAILS</a:t>
            </a:r>
          </a:p>
        </p:txBody>
      </p:sp>
      <p:sp>
        <p:nvSpPr>
          <p:cNvPr id="16" name="TextBox 15"/>
          <p:cNvSpPr txBox="1"/>
          <p:nvPr/>
        </p:nvSpPr>
        <p:spPr>
          <a:xfrm>
            <a:off x="64008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Counts by source: rule vs model</a:t>
            </a:r>
          </a:p>
          <a:p>
            <a:pPr algn="l"/>
            <a:r>
              <a:rPr sz="1100" b="0">
                <a:solidFill>
                  <a:srgbClr val="333333"/>
                </a:solidFill>
                <a:latin typeface="Calibri"/>
              </a:rPr>
              <a:t>• Counts by guardrail type</a:t>
            </a:r>
          </a:p>
          <a:p>
            <a:pPr algn="l"/>
            <a:r>
              <a:rPr sz="1100" b="0">
                <a:solidFill>
                  <a:srgbClr val="333333"/>
                </a:solidFill>
                <a:latin typeface="Calibri"/>
              </a:rPr>
              <a:t>• Confidence distribution for tuning</a:t>
            </a:r>
          </a:p>
        </p:txBody>
      </p:sp>
      <p:sp>
        <p:nvSpPr>
          <p:cNvPr id="17" name="Rounded Rectangle 16"/>
          <p:cNvSpPr/>
          <p:nvPr/>
        </p:nvSpPr>
        <p:spPr>
          <a:xfrm>
            <a:off x="626364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40479"/>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SLA RISK</a:t>
            </a:r>
          </a:p>
        </p:txBody>
      </p:sp>
      <p:sp>
        <p:nvSpPr>
          <p:cNvPr id="19" name="TextBox 18"/>
          <p:cNvSpPr txBox="1"/>
          <p:nvPr/>
        </p:nvSpPr>
        <p:spPr>
          <a:xfrm>
            <a:off x="644652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Distribution across critical / high / medium / low</a:t>
            </a:r>
          </a:p>
          <a:p>
            <a:pPr algn="l"/>
            <a:r>
              <a:rPr sz="1100" b="0">
                <a:solidFill>
                  <a:srgbClr val="333333"/>
                </a:solidFill>
                <a:latin typeface="Calibri"/>
              </a:rPr>
              <a:t>• Highlights tickets nearing SLA breach</a:t>
            </a:r>
          </a:p>
          <a:p>
            <a:pPr algn="l"/>
            <a:r>
              <a:rPr sz="1100" b="0">
                <a:solidFill>
                  <a:srgbClr val="333333"/>
                </a:solidFill>
                <a:latin typeface="Calibri"/>
              </a:rPr>
              <a:t>• Feeds proactive admin action</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29/35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RBAC — Why Two Views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46304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USER VIEW (safe subset)</a:t>
            </a:r>
          </a:p>
        </p:txBody>
      </p:sp>
      <p:sp>
        <p:nvSpPr>
          <p:cNvPr id="10" name="TextBox 9"/>
          <p:cNvSpPr txBox="1"/>
          <p:nvPr/>
        </p:nvSpPr>
        <p:spPr>
          <a:xfrm>
            <a:off x="64008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Category, priority, assigned team</a:t>
            </a:r>
          </a:p>
          <a:p>
            <a:pPr algn="l"/>
            <a:r>
              <a:rPr sz="1100" b="0">
                <a:solidFill>
                  <a:srgbClr val="333333"/>
                </a:solidFill>
                <a:latin typeface="Calibri"/>
              </a:rPr>
              <a:t>• Suggested troubleshooting steps</a:t>
            </a:r>
          </a:p>
          <a:p>
            <a:pPr algn="l"/>
            <a:r>
              <a:rPr sz="1100" b="0">
                <a:solidFill>
                  <a:srgbClr val="333333"/>
                </a:solidFill>
                <a:latin typeface="Calibri"/>
              </a:rPr>
              <a:t>• SLA window (expected resolution time)</a:t>
            </a:r>
          </a:p>
          <a:p>
            <a:pPr algn="l"/>
            <a:r>
              <a:rPr sz="1100" b="0">
                <a:solidFill>
                  <a:srgbClr val="333333"/>
                </a:solidFill>
                <a:latin typeface="Calibri"/>
              </a:rPr>
              <a:t>• Guardrail flag only when relevant to user</a:t>
            </a:r>
          </a:p>
          <a:p>
            <a:pPr algn="l"/>
            <a:r>
              <a:rPr sz="1100" b="0">
                <a:solidFill>
                  <a:srgbClr val="333333"/>
                </a:solidFill>
                <a:latin typeface="Calibri"/>
              </a:rPr>
              <a:t>• No RAG score or internal metadata</a:t>
            </a:r>
          </a:p>
        </p:txBody>
      </p:sp>
      <p:sp>
        <p:nvSpPr>
          <p:cNvPr id="11" name="Rounded Rectangle 10"/>
          <p:cNvSpPr/>
          <p:nvPr/>
        </p:nvSpPr>
        <p:spPr>
          <a:xfrm>
            <a:off x="6263640" y="1371600"/>
            <a:ext cx="54864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46304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ADMIN VIEW (full context)</a:t>
            </a:r>
          </a:p>
        </p:txBody>
      </p:sp>
      <p:sp>
        <p:nvSpPr>
          <p:cNvPr id="13" name="TextBox 12"/>
          <p:cNvSpPr txBox="1"/>
          <p:nvPr/>
        </p:nvSpPr>
        <p:spPr>
          <a:xfrm>
            <a:off x="6446520" y="1874520"/>
            <a:ext cx="5166360" cy="3794760"/>
          </a:xfrm>
          <a:prstGeom prst="rect">
            <a:avLst/>
          </a:prstGeom>
          <a:noFill/>
        </p:spPr>
        <p:txBody>
          <a:bodyPr wrap="square" lIns="45720" tIns="27432" rIns="45720" bIns="27432" anchor="t">
            <a:spAutoFit/>
          </a:bodyPr>
          <a:lstStyle/>
          <a:p>
            <a:pPr algn="l"/>
            <a:r>
              <a:rPr sz="1100" b="0">
                <a:solidFill>
                  <a:srgbClr val="333333"/>
                </a:solidFill>
                <a:latin typeface="Calibri"/>
              </a:rPr>
              <a:t>• Everything the user sees</a:t>
            </a:r>
          </a:p>
          <a:p>
            <a:pPr algn="l"/>
            <a:r>
              <a:rPr sz="1100" b="0">
                <a:solidFill>
                  <a:srgbClr val="333333"/>
                </a:solidFill>
                <a:latin typeface="Calibri"/>
              </a:rPr>
              <a:t>• RAG score and retrieved sources</a:t>
            </a:r>
          </a:p>
          <a:p>
            <a:pPr algn="l"/>
            <a:r>
              <a:rPr sz="1100" b="0">
                <a:solidFill>
                  <a:srgbClr val="333333"/>
                </a:solidFill>
                <a:latin typeface="Calibri"/>
              </a:rPr>
              <a:t>• Guardrail source (rule / model) + confidence</a:t>
            </a:r>
          </a:p>
          <a:p>
            <a:pPr algn="l"/>
            <a:r>
              <a:rPr sz="1100" b="0">
                <a:solidFill>
                  <a:srgbClr val="333333"/>
                </a:solidFill>
                <a:latin typeface="Calibri"/>
              </a:rPr>
              <a:t>• SLA prediction and escalation team</a:t>
            </a:r>
          </a:p>
          <a:p>
            <a:pPr algn="l"/>
            <a:r>
              <a:rPr sz="1100" b="0">
                <a:solidFill>
                  <a:srgbClr val="333333"/>
                </a:solidFill>
                <a:latin typeface="Calibri"/>
              </a:rPr>
              <a:t>• Full audit trail per ticket</a:t>
            </a:r>
          </a:p>
        </p:txBody>
      </p:sp>
      <p:sp>
        <p:nvSpPr>
          <p:cNvPr id="14" name="TextBox 13"/>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30/35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Implementation Depth &amp; Hands-On Research</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RESEARCH APPLIED</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Studied agent architecture before coding</a:t>
            </a:r>
          </a:p>
          <a:p>
            <a:pPr algn="l"/>
            <a:r>
              <a:rPr sz="1100" b="0">
                <a:solidFill>
                  <a:srgbClr val="333333"/>
                </a:solidFill>
                <a:latin typeface="Calibri"/>
              </a:rPr>
              <a:t>• Mapped user, admin, memory, tools, and evaluation needs</a:t>
            </a:r>
          </a:p>
          <a:p>
            <a:pPr algn="l"/>
            <a:r>
              <a:rPr sz="1100" b="0">
                <a:solidFill>
                  <a:srgbClr val="333333"/>
                </a:solidFill>
                <a:latin typeface="Calibri"/>
              </a:rPr>
              <a:t>• Designed RAG path with confidence-based fallback</a:t>
            </a:r>
          </a:p>
          <a:p>
            <a:pPr algn="l"/>
            <a:r>
              <a:rPr sz="1100" b="0">
                <a:solidFill>
                  <a:srgbClr val="333333"/>
                </a:solidFill>
                <a:latin typeface="Calibri"/>
              </a:rPr>
              <a:t>• Studied guardrail patterns and SLA management</a:t>
            </a:r>
          </a:p>
          <a:p>
            <a:pPr algn="l"/>
            <a:r>
              <a:rPr sz="1100" b="0">
                <a:solidFill>
                  <a:srgbClr val="333333"/>
                </a:solidFill>
                <a:latin typeface="Calibri"/>
              </a:rPr>
              <a:t>• Reviewed how ServiceNow / Jira / Moveworks handle triage</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IMPLEMENTATION WORK</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Built React frontend + FastAPI backend</a:t>
            </a:r>
          </a:p>
          <a:p>
            <a:pPr algn="l"/>
            <a:r>
              <a:rPr sz="1100" b="0">
                <a:solidFill>
                  <a:srgbClr val="333333"/>
                </a:solidFill>
                <a:latin typeface="Calibri"/>
              </a:rPr>
              <a:t>• Implemented RAG with ChromaDB and CSV ingestion</a:t>
            </a:r>
          </a:p>
          <a:p>
            <a:pPr algn="l"/>
            <a:r>
              <a:rPr sz="1100" b="0">
                <a:solidFill>
                  <a:srgbClr val="333333"/>
                </a:solidFill>
                <a:latin typeface="Calibri"/>
              </a:rPr>
              <a:t>• Added classification, priority, routing tools</a:t>
            </a:r>
          </a:p>
          <a:p>
            <a:pPr algn="l"/>
            <a:r>
              <a:rPr sz="1100" b="0">
                <a:solidFill>
                  <a:srgbClr val="333333"/>
                </a:solidFill>
                <a:latin typeface="Calibri"/>
              </a:rPr>
              <a:t>• Added rule + model guardrails (NEW)</a:t>
            </a:r>
          </a:p>
          <a:p>
            <a:pPr algn="l"/>
            <a:r>
              <a:rPr sz="1100" b="0">
                <a:solidFill>
                  <a:srgbClr val="333333"/>
                </a:solidFill>
                <a:latin typeface="Calibri"/>
              </a:rPr>
              <a:t>• Added SLA prediction engine (NEW)</a:t>
            </a:r>
          </a:p>
          <a:p>
            <a:pPr algn="l"/>
            <a:r>
              <a:rPr sz="1100" b="0">
                <a:solidFill>
                  <a:srgbClr val="333333"/>
                </a:solidFill>
                <a:latin typeface="Calibri"/>
              </a:rPr>
              <a:t>• Built admin analytics, ticket detail view, search</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LEARNING OUTCOME</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AI systems need more than prompts</a:t>
            </a:r>
          </a:p>
          <a:p>
            <a:pPr algn="l"/>
            <a:r>
              <a:rPr sz="1100" b="0">
                <a:solidFill>
                  <a:srgbClr val="333333"/>
                </a:solidFill>
                <a:latin typeface="Calibri"/>
              </a:rPr>
              <a:t>• Separation of concerns pays off long-term</a:t>
            </a:r>
          </a:p>
          <a:p>
            <a:pPr algn="l"/>
            <a:r>
              <a:rPr sz="1100" b="0">
                <a:solidFill>
                  <a:srgbClr val="333333"/>
                </a:solidFill>
                <a:latin typeface="Calibri"/>
              </a:rPr>
              <a:t>• Practiced production thinking: RBAC, fallback, audit</a:t>
            </a:r>
          </a:p>
          <a:p>
            <a:pPr algn="l"/>
            <a:r>
              <a:rPr sz="1100" b="0">
                <a:solidFill>
                  <a:srgbClr val="333333"/>
                </a:solidFill>
                <a:latin typeface="Calibri"/>
              </a:rPr>
              <a:t>• Prepared project for future ITSM integration</a:t>
            </a:r>
          </a:p>
          <a:p>
            <a:pPr algn="l"/>
            <a:r>
              <a:rPr sz="1100" b="0">
                <a:solidFill>
                  <a:srgbClr val="333333"/>
                </a:solidFill>
                <a:latin typeface="Calibri"/>
              </a:rPr>
              <a:t>• Realized SLA + guardrails together = trustable triage</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31/35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Evaluation Metrics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34440"/>
            <a:ext cx="2194560" cy="5943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7200" y="1234440"/>
            <a:ext cx="2194560" cy="594360"/>
          </a:xfrm>
          <a:prstGeom prst="rect">
            <a:avLst/>
          </a:prstGeom>
          <a:noFill/>
        </p:spPr>
        <p:txBody>
          <a:bodyPr wrap="square" lIns="45720" tIns="27432" rIns="45720" bIns="27432" anchor="ctr">
            <a:spAutoFit/>
          </a:bodyPr>
          <a:lstStyle/>
          <a:p>
            <a:pPr algn="ctr"/>
            <a:r>
              <a:rPr sz="1200" b="1">
                <a:solidFill>
                  <a:srgbClr val="FFFFFF"/>
                </a:solidFill>
                <a:latin typeface="Calibri"/>
              </a:rPr>
              <a:t>Area</a:t>
            </a:r>
          </a:p>
        </p:txBody>
      </p:sp>
      <p:sp>
        <p:nvSpPr>
          <p:cNvPr id="10" name="Rounded Rectangle 9"/>
          <p:cNvSpPr/>
          <p:nvPr/>
        </p:nvSpPr>
        <p:spPr>
          <a:xfrm>
            <a:off x="2743200" y="1234440"/>
            <a:ext cx="4206240" cy="5943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743200" y="1234440"/>
            <a:ext cx="4206240" cy="594360"/>
          </a:xfrm>
          <a:prstGeom prst="rect">
            <a:avLst/>
          </a:prstGeom>
          <a:noFill/>
        </p:spPr>
        <p:txBody>
          <a:bodyPr wrap="square" lIns="45720" tIns="27432" rIns="45720" bIns="27432" anchor="ctr">
            <a:spAutoFit/>
          </a:bodyPr>
          <a:lstStyle/>
          <a:p>
            <a:pPr algn="ctr"/>
            <a:r>
              <a:rPr sz="1200" b="1">
                <a:solidFill>
                  <a:srgbClr val="FFFFFF"/>
                </a:solidFill>
                <a:latin typeface="Calibri"/>
              </a:rPr>
              <a:t>What to measure</a:t>
            </a:r>
          </a:p>
        </p:txBody>
      </p:sp>
      <p:sp>
        <p:nvSpPr>
          <p:cNvPr id="12" name="Rounded Rectangle 11"/>
          <p:cNvSpPr/>
          <p:nvPr/>
        </p:nvSpPr>
        <p:spPr>
          <a:xfrm>
            <a:off x="7040880" y="1234440"/>
            <a:ext cx="4754880" cy="59436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040880" y="1234440"/>
            <a:ext cx="4754880" cy="594360"/>
          </a:xfrm>
          <a:prstGeom prst="rect">
            <a:avLst/>
          </a:prstGeom>
          <a:noFill/>
        </p:spPr>
        <p:txBody>
          <a:bodyPr wrap="square" lIns="45720" tIns="27432" rIns="45720" bIns="27432" anchor="ctr">
            <a:spAutoFit/>
          </a:bodyPr>
          <a:lstStyle/>
          <a:p>
            <a:pPr algn="ctr"/>
            <a:r>
              <a:rPr sz="1200" b="1">
                <a:solidFill>
                  <a:srgbClr val="FFFFFF"/>
                </a:solidFill>
                <a:latin typeface="Calibri"/>
              </a:rPr>
              <a:t>Why it matters</a:t>
            </a:r>
          </a:p>
        </p:txBody>
      </p:sp>
      <p:sp>
        <p:nvSpPr>
          <p:cNvPr id="14" name="Rounded Rectangle 13"/>
          <p:cNvSpPr/>
          <p:nvPr/>
        </p:nvSpPr>
        <p:spPr>
          <a:xfrm>
            <a:off x="457200" y="1920240"/>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1920240"/>
            <a:ext cx="2011680" cy="594360"/>
          </a:xfrm>
          <a:prstGeom prst="rect">
            <a:avLst/>
          </a:prstGeom>
          <a:noFill/>
        </p:spPr>
        <p:txBody>
          <a:bodyPr wrap="square" lIns="45720" tIns="27432" rIns="45720" bIns="27432" anchor="ctr">
            <a:spAutoFit/>
          </a:bodyPr>
          <a:lstStyle/>
          <a:p>
            <a:pPr algn="l"/>
            <a:r>
              <a:rPr sz="1200" b="1">
                <a:solidFill>
                  <a:srgbClr val="CE5B41"/>
                </a:solidFill>
                <a:latin typeface="Calibri"/>
              </a:rPr>
              <a:t>Classification</a:t>
            </a:r>
          </a:p>
        </p:txBody>
      </p:sp>
      <p:sp>
        <p:nvSpPr>
          <p:cNvPr id="16" name="Rounded Rectangle 15"/>
          <p:cNvSpPr/>
          <p:nvPr/>
        </p:nvSpPr>
        <p:spPr>
          <a:xfrm>
            <a:off x="2743200" y="1920240"/>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880360" y="1920240"/>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Category correctness</a:t>
            </a:r>
          </a:p>
        </p:txBody>
      </p:sp>
      <p:sp>
        <p:nvSpPr>
          <p:cNvPr id="18" name="Rounded Rectangle 17"/>
          <p:cNvSpPr/>
          <p:nvPr/>
        </p:nvSpPr>
        <p:spPr>
          <a:xfrm>
            <a:off x="7040880" y="1920240"/>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178040" y="1920240"/>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Shows triage decision quality</a:t>
            </a:r>
          </a:p>
        </p:txBody>
      </p:sp>
      <p:sp>
        <p:nvSpPr>
          <p:cNvPr id="20" name="Rounded Rectangle 19"/>
          <p:cNvSpPr/>
          <p:nvPr/>
        </p:nvSpPr>
        <p:spPr>
          <a:xfrm>
            <a:off x="457200" y="2606040"/>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94360" y="2606040"/>
            <a:ext cx="2011680" cy="594360"/>
          </a:xfrm>
          <a:prstGeom prst="rect">
            <a:avLst/>
          </a:prstGeom>
          <a:noFill/>
        </p:spPr>
        <p:txBody>
          <a:bodyPr wrap="square" lIns="45720" tIns="27432" rIns="45720" bIns="27432" anchor="ctr">
            <a:spAutoFit/>
          </a:bodyPr>
          <a:lstStyle/>
          <a:p>
            <a:pPr algn="l"/>
            <a:r>
              <a:rPr sz="1200" b="1">
                <a:solidFill>
                  <a:srgbClr val="7A8C3A"/>
                </a:solidFill>
                <a:latin typeface="Calibri"/>
              </a:rPr>
              <a:t>Routing</a:t>
            </a:r>
          </a:p>
        </p:txBody>
      </p:sp>
      <p:sp>
        <p:nvSpPr>
          <p:cNvPr id="22" name="Rounded Rectangle 21"/>
          <p:cNvSpPr/>
          <p:nvPr/>
        </p:nvSpPr>
        <p:spPr>
          <a:xfrm>
            <a:off x="2743200" y="2606040"/>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880360" y="2606040"/>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Assigned team correctness</a:t>
            </a:r>
          </a:p>
        </p:txBody>
      </p:sp>
      <p:sp>
        <p:nvSpPr>
          <p:cNvPr id="24" name="Rounded Rectangle 23"/>
          <p:cNvSpPr/>
          <p:nvPr/>
        </p:nvSpPr>
        <p:spPr>
          <a:xfrm>
            <a:off x="7040880" y="2606040"/>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178040" y="2606040"/>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Avoids ticket hopping</a:t>
            </a:r>
          </a:p>
        </p:txBody>
      </p:sp>
      <p:sp>
        <p:nvSpPr>
          <p:cNvPr id="26" name="Rounded Rectangle 25"/>
          <p:cNvSpPr/>
          <p:nvPr/>
        </p:nvSpPr>
        <p:spPr>
          <a:xfrm>
            <a:off x="457200" y="3291840"/>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3291840"/>
            <a:ext cx="2011680" cy="594360"/>
          </a:xfrm>
          <a:prstGeom prst="rect">
            <a:avLst/>
          </a:prstGeom>
          <a:noFill/>
        </p:spPr>
        <p:txBody>
          <a:bodyPr wrap="square" lIns="45720" tIns="27432" rIns="45720" bIns="27432" anchor="ctr">
            <a:spAutoFit/>
          </a:bodyPr>
          <a:lstStyle/>
          <a:p>
            <a:pPr algn="l"/>
            <a:r>
              <a:rPr sz="1200" b="1">
                <a:solidFill>
                  <a:srgbClr val="CE5B41"/>
                </a:solidFill>
                <a:latin typeface="Calibri"/>
              </a:rPr>
              <a:t>RAG</a:t>
            </a:r>
          </a:p>
        </p:txBody>
      </p:sp>
      <p:sp>
        <p:nvSpPr>
          <p:cNvPr id="28" name="Rounded Rectangle 27"/>
          <p:cNvSpPr/>
          <p:nvPr/>
        </p:nvSpPr>
        <p:spPr>
          <a:xfrm>
            <a:off x="2743200" y="3291840"/>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2880360" y="3291840"/>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Source relevance + score</a:t>
            </a:r>
          </a:p>
        </p:txBody>
      </p:sp>
      <p:sp>
        <p:nvSpPr>
          <p:cNvPr id="30" name="Rounded Rectangle 29"/>
          <p:cNvSpPr/>
          <p:nvPr/>
        </p:nvSpPr>
        <p:spPr>
          <a:xfrm>
            <a:off x="7040880" y="3291840"/>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178040" y="3291840"/>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Keeps response grounded</a:t>
            </a:r>
          </a:p>
        </p:txBody>
      </p:sp>
      <p:sp>
        <p:nvSpPr>
          <p:cNvPr id="32" name="Rounded Rectangle 31"/>
          <p:cNvSpPr/>
          <p:nvPr/>
        </p:nvSpPr>
        <p:spPr>
          <a:xfrm>
            <a:off x="457200" y="3977639"/>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94360" y="3977639"/>
            <a:ext cx="2011680" cy="594360"/>
          </a:xfrm>
          <a:prstGeom prst="rect">
            <a:avLst/>
          </a:prstGeom>
          <a:noFill/>
        </p:spPr>
        <p:txBody>
          <a:bodyPr wrap="square" lIns="45720" tIns="27432" rIns="45720" bIns="27432" anchor="ctr">
            <a:spAutoFit/>
          </a:bodyPr>
          <a:lstStyle/>
          <a:p>
            <a:pPr algn="l"/>
            <a:r>
              <a:rPr sz="1200" b="1">
                <a:solidFill>
                  <a:srgbClr val="7A8C3A"/>
                </a:solidFill>
                <a:latin typeface="Calibri"/>
              </a:rPr>
              <a:t>Guardrails</a:t>
            </a:r>
          </a:p>
        </p:txBody>
      </p:sp>
      <p:sp>
        <p:nvSpPr>
          <p:cNvPr id="34" name="Rounded Rectangle 33"/>
          <p:cNvSpPr/>
          <p:nvPr/>
        </p:nvSpPr>
        <p:spPr>
          <a:xfrm>
            <a:off x="2743200" y="3977639"/>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2880360" y="3977639"/>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Correct escalation</a:t>
            </a:r>
          </a:p>
        </p:txBody>
      </p:sp>
      <p:sp>
        <p:nvSpPr>
          <p:cNvPr id="36" name="Rounded Rectangle 35"/>
          <p:cNvSpPr/>
          <p:nvPr/>
        </p:nvSpPr>
        <p:spPr>
          <a:xfrm>
            <a:off x="7040880" y="3977639"/>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7178040" y="3977639"/>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Protects critical / security cases</a:t>
            </a:r>
          </a:p>
        </p:txBody>
      </p:sp>
      <p:sp>
        <p:nvSpPr>
          <p:cNvPr id="38" name="Rounded Rectangle 37"/>
          <p:cNvSpPr/>
          <p:nvPr/>
        </p:nvSpPr>
        <p:spPr>
          <a:xfrm>
            <a:off x="457200" y="4663440"/>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94360" y="4663440"/>
            <a:ext cx="2011680" cy="594360"/>
          </a:xfrm>
          <a:prstGeom prst="rect">
            <a:avLst/>
          </a:prstGeom>
          <a:noFill/>
        </p:spPr>
        <p:txBody>
          <a:bodyPr wrap="square" lIns="45720" tIns="27432" rIns="45720" bIns="27432" anchor="ctr">
            <a:spAutoFit/>
          </a:bodyPr>
          <a:lstStyle/>
          <a:p>
            <a:pPr algn="l"/>
            <a:r>
              <a:rPr sz="1200" b="1">
                <a:solidFill>
                  <a:srgbClr val="CE5B41"/>
                </a:solidFill>
                <a:latin typeface="Calibri"/>
              </a:rPr>
              <a:t>SLA</a:t>
            </a:r>
          </a:p>
        </p:txBody>
      </p:sp>
      <p:sp>
        <p:nvSpPr>
          <p:cNvPr id="40" name="Rounded Rectangle 39"/>
          <p:cNvSpPr/>
          <p:nvPr/>
        </p:nvSpPr>
        <p:spPr>
          <a:xfrm>
            <a:off x="2743200" y="4663440"/>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2880360" y="4663440"/>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Predicted vs actual response time</a:t>
            </a:r>
          </a:p>
        </p:txBody>
      </p:sp>
      <p:sp>
        <p:nvSpPr>
          <p:cNvPr id="42" name="Rounded Rectangle 41"/>
          <p:cNvSpPr/>
          <p:nvPr/>
        </p:nvSpPr>
        <p:spPr>
          <a:xfrm>
            <a:off x="7040880" y="4663440"/>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178040" y="4663440"/>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Shows operational health</a:t>
            </a:r>
          </a:p>
        </p:txBody>
      </p:sp>
      <p:sp>
        <p:nvSpPr>
          <p:cNvPr id="44" name="Rounded Rectangle 43"/>
          <p:cNvSpPr/>
          <p:nvPr/>
        </p:nvSpPr>
        <p:spPr>
          <a:xfrm>
            <a:off x="457200" y="5349240"/>
            <a:ext cx="219456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594360" y="5349240"/>
            <a:ext cx="2011680" cy="594360"/>
          </a:xfrm>
          <a:prstGeom prst="rect">
            <a:avLst/>
          </a:prstGeom>
          <a:noFill/>
        </p:spPr>
        <p:txBody>
          <a:bodyPr wrap="square" lIns="45720" tIns="27432" rIns="45720" bIns="27432" anchor="ctr">
            <a:spAutoFit/>
          </a:bodyPr>
          <a:lstStyle/>
          <a:p>
            <a:pPr algn="l"/>
            <a:r>
              <a:rPr sz="1200" b="1">
                <a:solidFill>
                  <a:srgbClr val="7A8C3A"/>
                </a:solidFill>
                <a:latin typeface="Calibri"/>
              </a:rPr>
              <a:t>Operations</a:t>
            </a:r>
          </a:p>
        </p:txBody>
      </p:sp>
      <p:sp>
        <p:nvSpPr>
          <p:cNvPr id="46" name="Rounded Rectangle 45"/>
          <p:cNvSpPr/>
          <p:nvPr/>
        </p:nvSpPr>
        <p:spPr>
          <a:xfrm>
            <a:off x="2743200" y="5349240"/>
            <a:ext cx="420624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2880360" y="5349240"/>
            <a:ext cx="4023360" cy="594360"/>
          </a:xfrm>
          <a:prstGeom prst="rect">
            <a:avLst/>
          </a:prstGeom>
          <a:noFill/>
        </p:spPr>
        <p:txBody>
          <a:bodyPr wrap="square" lIns="45720" tIns="27432" rIns="45720" bIns="27432" anchor="ctr">
            <a:spAutoFit/>
          </a:bodyPr>
          <a:lstStyle/>
          <a:p>
            <a:pPr algn="l"/>
            <a:r>
              <a:rPr sz="1200" b="0">
                <a:solidFill>
                  <a:srgbClr val="333333"/>
                </a:solidFill>
                <a:latin typeface="Calibri"/>
              </a:rPr>
              <a:t>Latency, failures, fallback rate</a:t>
            </a:r>
          </a:p>
        </p:txBody>
      </p:sp>
      <p:sp>
        <p:nvSpPr>
          <p:cNvPr id="48" name="Rounded Rectangle 47"/>
          <p:cNvSpPr/>
          <p:nvPr/>
        </p:nvSpPr>
        <p:spPr>
          <a:xfrm>
            <a:off x="7040880" y="5349240"/>
            <a:ext cx="4754880" cy="59436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7178040" y="5349240"/>
            <a:ext cx="4572000" cy="594360"/>
          </a:xfrm>
          <a:prstGeom prst="rect">
            <a:avLst/>
          </a:prstGeom>
          <a:noFill/>
        </p:spPr>
        <p:txBody>
          <a:bodyPr wrap="square" lIns="45720" tIns="27432" rIns="45720" bIns="27432" anchor="ctr">
            <a:spAutoFit/>
          </a:bodyPr>
          <a:lstStyle/>
          <a:p>
            <a:pPr algn="l"/>
            <a:r>
              <a:rPr sz="1200" b="0">
                <a:solidFill>
                  <a:srgbClr val="333333"/>
                </a:solidFill>
                <a:latin typeface="Calibri"/>
              </a:rPr>
              <a:t>Shows production readiness</a:t>
            </a:r>
          </a:p>
        </p:txBody>
      </p:sp>
      <p:sp>
        <p:nvSpPr>
          <p:cNvPr id="50" name="TextBox 4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32/35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Production Considerations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TRUST &amp; SAFETY</a:t>
            </a:r>
          </a:p>
        </p:txBody>
      </p:sp>
      <p:sp>
        <p:nvSpPr>
          <p:cNvPr id="10" name="TextBox 9"/>
          <p:cNvSpPr txBox="1"/>
          <p:nvPr/>
        </p:nvSpPr>
        <p:spPr>
          <a:xfrm>
            <a:off x="64008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Prefer internal KB over generic web guidance</a:t>
            </a:r>
          </a:p>
          <a:p>
            <a:pPr algn="l"/>
            <a:r>
              <a:rPr sz="1100" b="0">
                <a:solidFill>
                  <a:srgbClr val="333333"/>
                </a:solidFill>
                <a:latin typeface="Calibri"/>
              </a:rPr>
              <a:t>• Escalate security and outage risks</a:t>
            </a:r>
          </a:p>
          <a:p>
            <a:pPr algn="l"/>
            <a:r>
              <a:rPr sz="1100" b="0">
                <a:solidFill>
                  <a:srgbClr val="333333"/>
                </a:solidFill>
                <a:latin typeface="Calibri"/>
              </a:rPr>
              <a:t>• Keep audit trail for every decision</a:t>
            </a:r>
          </a:p>
        </p:txBody>
      </p:sp>
      <p:sp>
        <p:nvSpPr>
          <p:cNvPr id="11" name="Rounded Rectangle 10"/>
          <p:cNvSpPr/>
          <p:nvPr/>
        </p:nvSpPr>
        <p:spPr>
          <a:xfrm>
            <a:off x="626364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RELIABILITY</a:t>
            </a:r>
          </a:p>
        </p:txBody>
      </p:sp>
      <p:sp>
        <p:nvSpPr>
          <p:cNvPr id="13" name="TextBox 12"/>
          <p:cNvSpPr txBox="1"/>
          <p:nvPr/>
        </p:nvSpPr>
        <p:spPr>
          <a:xfrm>
            <a:off x="644652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Retry handling for LLM calls</a:t>
            </a:r>
          </a:p>
          <a:p>
            <a:pPr algn="l"/>
            <a:r>
              <a:rPr sz="1100" b="0">
                <a:solidFill>
                  <a:srgbClr val="333333"/>
                </a:solidFill>
                <a:latin typeface="Calibri"/>
              </a:rPr>
              <a:t>• Multi-LLM fallback strategy</a:t>
            </a:r>
          </a:p>
          <a:p>
            <a:pPr algn="l"/>
            <a:r>
              <a:rPr sz="1100" b="0">
                <a:solidFill>
                  <a:srgbClr val="333333"/>
                </a:solidFill>
                <a:latin typeface="Calibri"/>
              </a:rPr>
              <a:t>• Monitoring and logs for all API layers</a:t>
            </a:r>
          </a:p>
        </p:txBody>
      </p:sp>
      <p:sp>
        <p:nvSpPr>
          <p:cNvPr id="14" name="Rounded Rectangle 13"/>
          <p:cNvSpPr/>
          <p:nvPr/>
        </p:nvSpPr>
        <p:spPr>
          <a:xfrm>
            <a:off x="45720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0479"/>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SECURITY</a:t>
            </a:r>
          </a:p>
        </p:txBody>
      </p:sp>
      <p:sp>
        <p:nvSpPr>
          <p:cNvPr id="16" name="TextBox 15"/>
          <p:cNvSpPr txBox="1"/>
          <p:nvPr/>
        </p:nvSpPr>
        <p:spPr>
          <a:xfrm>
            <a:off x="64008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No secrets in source code</a:t>
            </a:r>
          </a:p>
          <a:p>
            <a:pPr algn="l"/>
            <a:r>
              <a:rPr sz="1100" b="0">
                <a:solidFill>
                  <a:srgbClr val="333333"/>
                </a:solidFill>
                <a:latin typeface="Calibri"/>
              </a:rPr>
              <a:t>• Authenticated RBAC (future)</a:t>
            </a:r>
          </a:p>
          <a:p>
            <a:pPr algn="l"/>
            <a:r>
              <a:rPr sz="1100" b="0">
                <a:solidFill>
                  <a:srgbClr val="333333"/>
                </a:solidFill>
                <a:latin typeface="Calibri"/>
              </a:rPr>
              <a:t>• Input validation and sanitization</a:t>
            </a:r>
          </a:p>
        </p:txBody>
      </p:sp>
      <p:sp>
        <p:nvSpPr>
          <p:cNvPr id="17" name="Rounded Rectangle 16"/>
          <p:cNvSpPr/>
          <p:nvPr/>
        </p:nvSpPr>
        <p:spPr>
          <a:xfrm>
            <a:off x="626364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40479"/>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SCALE</a:t>
            </a:r>
          </a:p>
        </p:txBody>
      </p:sp>
      <p:sp>
        <p:nvSpPr>
          <p:cNvPr id="19" name="TextBox 18"/>
          <p:cNvSpPr txBox="1"/>
          <p:nvPr/>
        </p:nvSpPr>
        <p:spPr>
          <a:xfrm>
            <a:off x="644652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Database-backed logs</a:t>
            </a:r>
          </a:p>
          <a:p>
            <a:pPr algn="l"/>
            <a:r>
              <a:rPr sz="1100" b="0">
                <a:solidFill>
                  <a:srgbClr val="333333"/>
                </a:solidFill>
                <a:latin typeface="Calibri"/>
              </a:rPr>
              <a:t>• Batch ingestion for large KB</a:t>
            </a:r>
          </a:p>
          <a:p>
            <a:pPr algn="l"/>
            <a:r>
              <a:rPr sz="1100" b="0">
                <a:solidFill>
                  <a:srgbClr val="333333"/>
                </a:solidFill>
                <a:latin typeface="Calibri"/>
              </a:rPr>
              <a:t>• Cache and observability dashboard</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33/35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Future Improvements Roadmap</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57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029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PHASE 1 — FOUNDATION</a:t>
            </a:r>
          </a:p>
        </p:txBody>
      </p:sp>
      <p:sp>
        <p:nvSpPr>
          <p:cNvPr id="10" name="TextBox 9"/>
          <p:cNvSpPr txBox="1"/>
          <p:nvPr/>
        </p:nvSpPr>
        <p:spPr>
          <a:xfrm>
            <a:off x="5486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Real login-based RBAC</a:t>
            </a:r>
          </a:p>
          <a:p>
            <a:pPr algn="l"/>
            <a:r>
              <a:rPr sz="1100" b="0">
                <a:solidFill>
                  <a:srgbClr val="333333"/>
                </a:solidFill>
                <a:latin typeface="Calibri"/>
              </a:rPr>
              <a:t>• Curated production KB</a:t>
            </a:r>
          </a:p>
          <a:p>
            <a:pPr algn="l"/>
            <a:r>
              <a:rPr sz="1100" b="0">
                <a:solidFill>
                  <a:srgbClr val="333333"/>
                </a:solidFill>
                <a:latin typeface="Calibri"/>
              </a:rPr>
              <a:t>• Evaluation test cases</a:t>
            </a:r>
          </a:p>
          <a:p>
            <a:pPr algn="l"/>
            <a:r>
              <a:rPr sz="1100" b="0">
                <a:solidFill>
                  <a:srgbClr val="333333"/>
                </a:solidFill>
                <a:latin typeface="Calibri"/>
              </a:rPr>
              <a:t>• Feedback logs from users and admins</a:t>
            </a:r>
          </a:p>
        </p:txBody>
      </p:sp>
      <p:sp>
        <p:nvSpPr>
          <p:cNvPr id="11" name="Rounded Rectangle 10"/>
          <p:cNvSpPr/>
          <p:nvPr/>
        </p:nvSpPr>
        <p:spPr>
          <a:xfrm>
            <a:off x="42519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389120" y="1463040"/>
            <a:ext cx="3383280" cy="365760"/>
          </a:xfrm>
          <a:prstGeom prst="rect">
            <a:avLst/>
          </a:prstGeom>
          <a:noFill/>
        </p:spPr>
        <p:txBody>
          <a:bodyPr wrap="square" lIns="45720" tIns="27432" rIns="45720" bIns="27432" anchor="t">
            <a:spAutoFit/>
          </a:bodyPr>
          <a:lstStyle/>
          <a:p>
            <a:pPr algn="l"/>
            <a:r>
              <a:rPr sz="1300" b="1">
                <a:solidFill>
                  <a:srgbClr val="7A8C3A"/>
                </a:solidFill>
                <a:latin typeface="Calibri"/>
              </a:rPr>
              <a:t>PHASE 2 — ENTERPRISE</a:t>
            </a:r>
          </a:p>
        </p:txBody>
      </p:sp>
      <p:sp>
        <p:nvSpPr>
          <p:cNvPr id="13" name="TextBox 12"/>
          <p:cNvSpPr txBox="1"/>
          <p:nvPr/>
        </p:nvSpPr>
        <p:spPr>
          <a:xfrm>
            <a:off x="44348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ServiceNow / Jira / Azure DevOps connector</a:t>
            </a:r>
          </a:p>
          <a:p>
            <a:pPr algn="l"/>
            <a:r>
              <a:rPr sz="1100" b="0">
                <a:solidFill>
                  <a:srgbClr val="333333"/>
                </a:solidFill>
                <a:latin typeface="Calibri"/>
              </a:rPr>
              <a:t>• Duplicate detection</a:t>
            </a:r>
          </a:p>
          <a:p>
            <a:pPr algn="l"/>
            <a:r>
              <a:rPr sz="1100" b="0">
                <a:solidFill>
                  <a:srgbClr val="333333"/>
                </a:solidFill>
                <a:latin typeface="Calibri"/>
              </a:rPr>
              <a:t>• Advanced SLA prediction from historical data</a:t>
            </a:r>
          </a:p>
          <a:p>
            <a:pPr algn="l"/>
            <a:r>
              <a:rPr sz="1100" b="0">
                <a:solidFill>
                  <a:srgbClr val="333333"/>
                </a:solidFill>
                <a:latin typeface="Calibri"/>
              </a:rPr>
              <a:t>• Teams / email alerts on SLA risk</a:t>
            </a:r>
          </a:p>
        </p:txBody>
      </p:sp>
      <p:sp>
        <p:nvSpPr>
          <p:cNvPr id="14" name="Rounded Rectangle 13"/>
          <p:cNvSpPr/>
          <p:nvPr/>
        </p:nvSpPr>
        <p:spPr>
          <a:xfrm>
            <a:off x="8138160" y="1371600"/>
            <a:ext cx="3657600" cy="43891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75320" y="1463040"/>
            <a:ext cx="3383280" cy="365760"/>
          </a:xfrm>
          <a:prstGeom prst="rect">
            <a:avLst/>
          </a:prstGeom>
          <a:noFill/>
        </p:spPr>
        <p:txBody>
          <a:bodyPr wrap="square" lIns="45720" tIns="27432" rIns="45720" bIns="27432" anchor="t">
            <a:spAutoFit/>
          </a:bodyPr>
          <a:lstStyle/>
          <a:p>
            <a:pPr algn="l"/>
            <a:r>
              <a:rPr sz="1300" b="1">
                <a:solidFill>
                  <a:srgbClr val="CE5B41"/>
                </a:solidFill>
                <a:latin typeface="Calibri"/>
              </a:rPr>
              <a:t>PHASE 3 — ADVANCED</a:t>
            </a:r>
          </a:p>
        </p:txBody>
      </p:sp>
      <p:sp>
        <p:nvSpPr>
          <p:cNvPr id="16" name="TextBox 15"/>
          <p:cNvSpPr txBox="1"/>
          <p:nvPr/>
        </p:nvSpPr>
        <p:spPr>
          <a:xfrm>
            <a:off x="8321040" y="1874520"/>
            <a:ext cx="3337560" cy="3794760"/>
          </a:xfrm>
          <a:prstGeom prst="rect">
            <a:avLst/>
          </a:prstGeom>
          <a:noFill/>
        </p:spPr>
        <p:txBody>
          <a:bodyPr wrap="square" lIns="45720" tIns="27432" rIns="45720" bIns="27432" anchor="t">
            <a:spAutoFit/>
          </a:bodyPr>
          <a:lstStyle/>
          <a:p>
            <a:pPr algn="l"/>
            <a:r>
              <a:rPr sz="1100" b="0">
                <a:solidFill>
                  <a:srgbClr val="333333"/>
                </a:solidFill>
                <a:latin typeface="Calibri"/>
              </a:rPr>
              <a:t>• Human-in-loop approval for critical tickets</a:t>
            </a:r>
          </a:p>
          <a:p>
            <a:pPr algn="l"/>
            <a:r>
              <a:rPr sz="1100" b="0">
                <a:solidFill>
                  <a:srgbClr val="333333"/>
                </a:solidFill>
                <a:latin typeface="Calibri"/>
              </a:rPr>
              <a:t>• Observability dashboard</a:t>
            </a:r>
          </a:p>
          <a:p>
            <a:pPr algn="l"/>
            <a:r>
              <a:rPr sz="1100" b="0">
                <a:solidFill>
                  <a:srgbClr val="333333"/>
                </a:solidFill>
                <a:latin typeface="Calibri"/>
              </a:rPr>
              <a:t>• Multi-LLM fallback</a:t>
            </a:r>
          </a:p>
          <a:p>
            <a:pPr algn="l"/>
            <a:r>
              <a:rPr sz="1100" b="0">
                <a:solidFill>
                  <a:srgbClr val="333333"/>
                </a:solidFill>
                <a:latin typeface="Calibri"/>
              </a:rPr>
              <a:t>• Multilingual ticket support</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34/35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Key Learnings</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37160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ARCHITECTURE</a:t>
            </a:r>
          </a:p>
        </p:txBody>
      </p:sp>
      <p:sp>
        <p:nvSpPr>
          <p:cNvPr id="10" name="TextBox 9"/>
          <p:cNvSpPr txBox="1"/>
          <p:nvPr/>
        </p:nvSpPr>
        <p:spPr>
          <a:xfrm>
            <a:off x="64008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Clean separation of UI, API, Agent, RAG, tools, memory pays off</a:t>
            </a:r>
          </a:p>
          <a:p>
            <a:pPr algn="l"/>
            <a:r>
              <a:rPr sz="1100" b="0">
                <a:solidFill>
                  <a:srgbClr val="333333"/>
                </a:solidFill>
                <a:latin typeface="Calibri"/>
              </a:rPr>
              <a:t>• Modularity keeps every feature independently testable</a:t>
            </a:r>
          </a:p>
        </p:txBody>
      </p:sp>
      <p:sp>
        <p:nvSpPr>
          <p:cNvPr id="11" name="Rounded Rectangle 10"/>
          <p:cNvSpPr/>
          <p:nvPr/>
        </p:nvSpPr>
        <p:spPr>
          <a:xfrm>
            <a:off x="6263640" y="1280160"/>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0" y="137160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RAG</a:t>
            </a:r>
          </a:p>
        </p:txBody>
      </p:sp>
      <p:sp>
        <p:nvSpPr>
          <p:cNvPr id="13" name="TextBox 12"/>
          <p:cNvSpPr txBox="1"/>
          <p:nvPr/>
        </p:nvSpPr>
        <p:spPr>
          <a:xfrm>
            <a:off x="6446520" y="1783080"/>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Grounding + confidence threshold is a must to reduce hallucination</a:t>
            </a:r>
          </a:p>
          <a:p>
            <a:pPr algn="l"/>
            <a:r>
              <a:rPr sz="1100" b="0">
                <a:solidFill>
                  <a:srgbClr val="333333"/>
                </a:solidFill>
                <a:latin typeface="Calibri"/>
              </a:rPr>
              <a:t>• Fallback keeps the system safe when the KB is weak</a:t>
            </a:r>
          </a:p>
        </p:txBody>
      </p:sp>
      <p:sp>
        <p:nvSpPr>
          <p:cNvPr id="14" name="Rounded Rectangle 13"/>
          <p:cNvSpPr/>
          <p:nvPr/>
        </p:nvSpPr>
        <p:spPr>
          <a:xfrm>
            <a:off x="45720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94360" y="3840479"/>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GUARDRAILS</a:t>
            </a:r>
          </a:p>
        </p:txBody>
      </p:sp>
      <p:sp>
        <p:nvSpPr>
          <p:cNvPr id="16" name="TextBox 15"/>
          <p:cNvSpPr txBox="1"/>
          <p:nvPr/>
        </p:nvSpPr>
        <p:spPr>
          <a:xfrm>
            <a:off x="64008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Hybrid rule + model design is the sweet spot for production</a:t>
            </a:r>
          </a:p>
          <a:p>
            <a:pPr algn="l"/>
            <a:r>
              <a:rPr sz="1100" b="0">
                <a:solidFill>
                  <a:srgbClr val="333333"/>
                </a:solidFill>
                <a:latin typeface="Calibri"/>
              </a:rPr>
              <a:t>• Model-based classifier catches meaning, not just words</a:t>
            </a:r>
          </a:p>
        </p:txBody>
      </p:sp>
      <p:sp>
        <p:nvSpPr>
          <p:cNvPr id="17" name="Rounded Rectangle 16"/>
          <p:cNvSpPr/>
          <p:nvPr/>
        </p:nvSpPr>
        <p:spPr>
          <a:xfrm>
            <a:off x="6263640" y="3749039"/>
            <a:ext cx="5486400" cy="233172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0" y="3840479"/>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SLA &amp; AUDIT</a:t>
            </a:r>
          </a:p>
        </p:txBody>
      </p:sp>
      <p:sp>
        <p:nvSpPr>
          <p:cNvPr id="19" name="TextBox 18"/>
          <p:cNvSpPr txBox="1"/>
          <p:nvPr/>
        </p:nvSpPr>
        <p:spPr>
          <a:xfrm>
            <a:off x="6446520" y="4251959"/>
            <a:ext cx="5166360" cy="1737360"/>
          </a:xfrm>
          <a:prstGeom prst="rect">
            <a:avLst/>
          </a:prstGeom>
          <a:noFill/>
        </p:spPr>
        <p:txBody>
          <a:bodyPr wrap="square" lIns="45720" tIns="27432" rIns="45720" bIns="27432" anchor="t">
            <a:spAutoFit/>
          </a:bodyPr>
          <a:lstStyle/>
          <a:p>
            <a:pPr algn="l"/>
            <a:r>
              <a:rPr sz="1100" b="0">
                <a:solidFill>
                  <a:srgbClr val="333333"/>
                </a:solidFill>
                <a:latin typeface="Calibri"/>
              </a:rPr>
              <a:t>• SLA prediction turns triage into actionable urgency</a:t>
            </a:r>
          </a:p>
          <a:p>
            <a:pPr algn="l"/>
            <a:r>
              <a:rPr sz="1100" b="0">
                <a:solidFill>
                  <a:srgbClr val="333333"/>
                </a:solidFill>
                <a:latin typeface="Calibri"/>
              </a:rPr>
              <a:t>• Audit trail is what makes AI decisions trustworthy</a:t>
            </a:r>
          </a:p>
        </p:txBody>
      </p:sp>
      <p:sp>
        <p:nvSpPr>
          <p:cNvPr id="20" name="TextBox 19"/>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BF7F0"/>
        </a:solidFill>
        <a:effectLst/>
      </p:bgPr>
    </p:bg>
    <p:spTree>
      <p:nvGrpSpPr>
        <p:cNvPr id="1" name=""/>
        <p:cNvGrpSpPr/>
        <p:nvPr/>
      </p:nvGrpSpPr>
      <p:grpSpPr>
        <a:xfrm>
          <a:off x="0" y="0"/>
          <a:ext cx="0" cy="0"/>
          <a:chOff x="0" y="0"/>
          <a:chExt cx="0" cy="0"/>
        </a:xfrm>
      </p:grpSpPr>
      <p:sp>
        <p:nvSpPr>
          <p:cNvPr id="2" name="Oval 1"/>
          <p:cNvSpPr/>
          <p:nvPr/>
        </p:nvSpPr>
        <p:spPr>
          <a:xfrm>
            <a:off x="-320040" y="-320040"/>
            <a:ext cx="1280160" cy="1280160"/>
          </a:xfrm>
          <a:prstGeom prst="ellipse">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 y="6035040"/>
            <a:ext cx="822960" cy="822960"/>
          </a:xfrm>
          <a:prstGeom prst="ellipse">
            <a:avLst/>
          </a:prstGeom>
          <a:solidFill>
            <a:srgbClr val="F5D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048695" y="274320"/>
            <a:ext cx="822960" cy="411480"/>
          </a:xfrm>
          <a:prstGeom prst="roundRect">
            <a:avLst/>
          </a:prstGeom>
          <a:solidFill>
            <a:srgbClr val="F5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1048695" y="274320"/>
            <a:ext cx="822960" cy="411480"/>
          </a:xfrm>
          <a:prstGeom prst="rect">
            <a:avLst/>
          </a:prstGeom>
          <a:noFill/>
        </p:spPr>
        <p:txBody>
          <a:bodyPr wrap="square" lIns="45720" tIns="27432" rIns="45720" bIns="27432" anchor="ctr">
            <a:spAutoFit/>
          </a:bodyPr>
          <a:lstStyle/>
          <a:p>
            <a:pPr algn="ctr"/>
            <a:r>
              <a:rPr sz="1300" b="1">
                <a:solidFill>
                  <a:srgbClr val="1F497D"/>
                </a:solidFill>
                <a:latin typeface="Calibri"/>
              </a:rPr>
              <a:t>35/35</a:t>
            </a:r>
          </a:p>
        </p:txBody>
      </p:sp>
      <p:sp>
        <p:nvSpPr>
          <p:cNvPr id="6" name="TextBox 5"/>
          <p:cNvSpPr txBox="1"/>
          <p:nvPr/>
        </p:nvSpPr>
        <p:spPr>
          <a:xfrm>
            <a:off x="1005840" y="320040"/>
            <a:ext cx="9601200" cy="640080"/>
          </a:xfrm>
          <a:prstGeom prst="rect">
            <a:avLst/>
          </a:prstGeom>
          <a:noFill/>
        </p:spPr>
        <p:txBody>
          <a:bodyPr wrap="square" lIns="45720" tIns="27432" rIns="45720" bIns="27432" anchor="ctr">
            <a:spAutoFit/>
          </a:bodyPr>
          <a:lstStyle/>
          <a:p>
            <a:pPr algn="l"/>
            <a:r>
              <a:rPr sz="2600" b="1">
                <a:solidFill>
                  <a:srgbClr val="1F497D"/>
                </a:solidFill>
                <a:latin typeface="Calibri"/>
              </a:rPr>
              <a:t>Final Takeaway</a:t>
            </a:r>
          </a:p>
        </p:txBody>
      </p:sp>
      <p:sp>
        <p:nvSpPr>
          <p:cNvPr id="7" name="Rectangle 6"/>
          <p:cNvSpPr/>
          <p:nvPr/>
        </p:nvSpPr>
        <p:spPr>
          <a:xfrm>
            <a:off x="1005840" y="960120"/>
            <a:ext cx="1828800" cy="36576"/>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097280"/>
            <a:ext cx="11247120" cy="548640"/>
          </a:xfrm>
          <a:prstGeom prst="rect">
            <a:avLst/>
          </a:prstGeom>
          <a:noFill/>
        </p:spPr>
        <p:txBody>
          <a:bodyPr wrap="square" lIns="45720" tIns="27432" rIns="45720" bIns="27432" anchor="t">
            <a:spAutoFit/>
          </a:bodyPr>
          <a:lstStyle/>
          <a:p>
            <a:pPr algn="ctr"/>
            <a:r>
              <a:rPr sz="2200" b="1">
                <a:solidFill>
                  <a:srgbClr val="CE5B41"/>
                </a:solidFill>
                <a:latin typeface="Calibri"/>
              </a:rPr>
              <a:t>From Ticket Intake to Enterprise-Ready AI Workflow</a:t>
            </a:r>
          </a:p>
        </p:txBody>
      </p:sp>
      <p:sp>
        <p:nvSpPr>
          <p:cNvPr id="9" name="Rounded Rectangle 8"/>
          <p:cNvSpPr/>
          <p:nvPr/>
        </p:nvSpPr>
        <p:spPr>
          <a:xfrm>
            <a:off x="457200" y="1920240"/>
            <a:ext cx="5486400" cy="28346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4360" y="2011680"/>
            <a:ext cx="5212080" cy="365760"/>
          </a:xfrm>
          <a:prstGeom prst="rect">
            <a:avLst/>
          </a:prstGeom>
          <a:noFill/>
        </p:spPr>
        <p:txBody>
          <a:bodyPr wrap="square" lIns="45720" tIns="27432" rIns="45720" bIns="27432" anchor="t">
            <a:spAutoFit/>
          </a:bodyPr>
          <a:lstStyle/>
          <a:p>
            <a:pPr algn="l"/>
            <a:r>
              <a:rPr sz="1300" b="1">
                <a:solidFill>
                  <a:srgbClr val="CE5B41"/>
                </a:solidFill>
                <a:latin typeface="Calibri"/>
              </a:rPr>
              <a:t>KEY MESSAGE</a:t>
            </a:r>
          </a:p>
        </p:txBody>
      </p:sp>
      <p:sp>
        <p:nvSpPr>
          <p:cNvPr id="11" name="TextBox 10"/>
          <p:cNvSpPr txBox="1"/>
          <p:nvPr/>
        </p:nvSpPr>
        <p:spPr>
          <a:xfrm>
            <a:off x="640080" y="2423160"/>
            <a:ext cx="5166360" cy="2240280"/>
          </a:xfrm>
          <a:prstGeom prst="rect">
            <a:avLst/>
          </a:prstGeom>
          <a:noFill/>
        </p:spPr>
        <p:txBody>
          <a:bodyPr wrap="square" lIns="45720" tIns="27432" rIns="45720" bIns="27432" anchor="t">
            <a:spAutoFit/>
          </a:bodyPr>
          <a:lstStyle/>
          <a:p>
            <a:pPr algn="l"/>
            <a:r>
              <a:rPr sz="1100" b="0">
                <a:solidFill>
                  <a:srgbClr val="333333"/>
                </a:solidFill>
                <a:latin typeface="Calibri"/>
              </a:rPr>
              <a:t>• Not just a chatbot</a:t>
            </a:r>
          </a:p>
          <a:p>
            <a:pPr algn="l"/>
            <a:r>
              <a:rPr sz="1100" b="0">
                <a:solidFill>
                  <a:srgbClr val="333333"/>
                </a:solidFill>
                <a:latin typeface="Calibri"/>
              </a:rPr>
              <a:t>• A complete support workflow: RAG, tools, hybrid guardrails, SLA, RBAC, analytics, audit</a:t>
            </a:r>
          </a:p>
          <a:p>
            <a:pPr algn="l"/>
            <a:r>
              <a:rPr sz="1100" b="0">
                <a:solidFill>
                  <a:srgbClr val="333333"/>
                </a:solidFill>
                <a:latin typeface="Calibri"/>
              </a:rPr>
              <a:t>• Designed for review, safety, and continuous improvement</a:t>
            </a:r>
          </a:p>
        </p:txBody>
      </p:sp>
      <p:sp>
        <p:nvSpPr>
          <p:cNvPr id="12" name="Rounded Rectangle 11"/>
          <p:cNvSpPr/>
          <p:nvPr/>
        </p:nvSpPr>
        <p:spPr>
          <a:xfrm>
            <a:off x="6263640" y="1920240"/>
            <a:ext cx="5486400" cy="2834640"/>
          </a:xfrm>
          <a:prstGeom prst="roundRect">
            <a:avLst/>
          </a:prstGeom>
          <a:solidFill>
            <a:srgbClr val="FFFFFF"/>
          </a:solidFill>
          <a:ln w="9525">
            <a:solidFill>
              <a:srgbClr val="D7D7D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00800" y="2011680"/>
            <a:ext cx="5212080" cy="365760"/>
          </a:xfrm>
          <a:prstGeom prst="rect">
            <a:avLst/>
          </a:prstGeom>
          <a:noFill/>
        </p:spPr>
        <p:txBody>
          <a:bodyPr wrap="square" lIns="45720" tIns="27432" rIns="45720" bIns="27432" anchor="t">
            <a:spAutoFit/>
          </a:bodyPr>
          <a:lstStyle/>
          <a:p>
            <a:pPr algn="l"/>
            <a:r>
              <a:rPr sz="1300" b="1">
                <a:solidFill>
                  <a:srgbClr val="7A8C3A"/>
                </a:solidFill>
                <a:latin typeface="Calibri"/>
              </a:rPr>
              <a:t>NEXT STEP</a:t>
            </a:r>
          </a:p>
        </p:txBody>
      </p:sp>
      <p:sp>
        <p:nvSpPr>
          <p:cNvPr id="14" name="TextBox 13"/>
          <p:cNvSpPr txBox="1"/>
          <p:nvPr/>
        </p:nvSpPr>
        <p:spPr>
          <a:xfrm>
            <a:off x="6446520" y="2423160"/>
            <a:ext cx="5166360" cy="2240280"/>
          </a:xfrm>
          <a:prstGeom prst="rect">
            <a:avLst/>
          </a:prstGeom>
          <a:noFill/>
        </p:spPr>
        <p:txBody>
          <a:bodyPr wrap="square" lIns="45720" tIns="27432" rIns="45720" bIns="27432" anchor="t">
            <a:spAutoFit/>
          </a:bodyPr>
          <a:lstStyle/>
          <a:p>
            <a:pPr algn="l"/>
            <a:r>
              <a:rPr sz="1100" b="0">
                <a:solidFill>
                  <a:srgbClr val="333333"/>
                </a:solidFill>
                <a:latin typeface="Calibri"/>
              </a:rPr>
              <a:t>• Connect real ITSM tools (ServiceNow / Jira)</a:t>
            </a:r>
          </a:p>
          <a:p>
            <a:pPr algn="l"/>
            <a:r>
              <a:rPr sz="1100" b="0">
                <a:solidFill>
                  <a:srgbClr val="333333"/>
                </a:solidFill>
                <a:latin typeface="Calibri"/>
              </a:rPr>
              <a:t>• Add authenticated RBAC</a:t>
            </a:r>
          </a:p>
          <a:p>
            <a:pPr algn="l"/>
            <a:r>
              <a:rPr sz="1100" b="0">
                <a:solidFill>
                  <a:srgbClr val="333333"/>
                </a:solidFill>
                <a:latin typeface="Calibri"/>
              </a:rPr>
              <a:t>• Use feedback loop to improve routing and guardrails</a:t>
            </a:r>
          </a:p>
        </p:txBody>
      </p:sp>
      <p:sp>
        <p:nvSpPr>
          <p:cNvPr id="15" name="TextBox 14"/>
          <p:cNvSpPr txBox="1"/>
          <p:nvPr/>
        </p:nvSpPr>
        <p:spPr>
          <a:xfrm>
            <a:off x="457200" y="5120640"/>
            <a:ext cx="11247120" cy="822960"/>
          </a:xfrm>
          <a:prstGeom prst="rect">
            <a:avLst/>
          </a:prstGeom>
          <a:noFill/>
        </p:spPr>
        <p:txBody>
          <a:bodyPr wrap="square" lIns="45720" tIns="27432" rIns="45720" bIns="27432" anchor="t">
            <a:spAutoFit/>
          </a:bodyPr>
          <a:lstStyle/>
          <a:p>
            <a:pPr algn="ctr"/>
            <a:r>
              <a:rPr sz="4800" b="1">
                <a:solidFill>
                  <a:srgbClr val="1F497D"/>
                </a:solidFill>
                <a:latin typeface="Calibri"/>
              </a:rPr>
              <a:t>Thank you</a:t>
            </a:r>
          </a:p>
        </p:txBody>
      </p:sp>
      <p:sp>
        <p:nvSpPr>
          <p:cNvPr id="16" name="TextBox 15"/>
          <p:cNvSpPr txBox="1"/>
          <p:nvPr/>
        </p:nvSpPr>
        <p:spPr>
          <a:xfrm>
            <a:off x="457200" y="5989320"/>
            <a:ext cx="11247120" cy="365760"/>
          </a:xfrm>
          <a:prstGeom prst="rect">
            <a:avLst/>
          </a:prstGeom>
          <a:noFill/>
        </p:spPr>
        <p:txBody>
          <a:bodyPr wrap="square" lIns="45720" tIns="27432" rIns="45720" bIns="27432" anchor="t">
            <a:spAutoFit/>
          </a:bodyPr>
          <a:lstStyle/>
          <a:p>
            <a:pPr algn="ctr"/>
            <a:r>
              <a:rPr sz="1400" b="0">
                <a:solidFill>
                  <a:srgbClr val="333333"/>
                </a:solidFill>
                <a:latin typeface="Calibri"/>
              </a:rPr>
              <a:t>Questions &amp; Feedback Welcome</a:t>
            </a:r>
          </a:p>
        </p:txBody>
      </p:sp>
      <p:sp>
        <p:nvSpPr>
          <p:cNvPr id="17" name="TextBox 16"/>
          <p:cNvSpPr txBox="1"/>
          <p:nvPr/>
        </p:nvSpPr>
        <p:spPr>
          <a:xfrm>
            <a:off x="8229600" y="6537960"/>
            <a:ext cx="3840480" cy="274320"/>
          </a:xfrm>
          <a:prstGeom prst="rect">
            <a:avLst/>
          </a:prstGeom>
          <a:noFill/>
        </p:spPr>
        <p:txBody>
          <a:bodyPr wrap="square" lIns="45720" tIns="27432" rIns="45720" bIns="27432" anchor="t">
            <a:spAutoFit/>
          </a:bodyPr>
          <a:lstStyle/>
          <a:p>
            <a:pPr algn="r"/>
            <a:r>
              <a:rPr sz="900" b="0">
                <a:solidFill>
                  <a:srgbClr val="1F497D"/>
                </a:solidFill>
                <a:latin typeface="Calibri"/>
              </a:rPr>
              <a:t>AI Ticket Triage Agent  |  Ritik Yadav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97e8228c-e2eb-4057-9e54-6cff5bbd08d7}" enabled="1" method="Standar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4</cp:revision>
  <dcterms:created xsi:type="dcterms:W3CDTF">2013-01-27T09:14:16Z</dcterms:created>
  <dcterms:modified xsi:type="dcterms:W3CDTF">2026-07-02T21:30:27Z</dcterms:modified>
  <cp:category/>
</cp:coreProperties>
</file>